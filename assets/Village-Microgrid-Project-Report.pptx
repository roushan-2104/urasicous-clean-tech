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" panose="020B0604020202020204" pitchFamily="34" charset="0"/>
      <p:regular r:id="rId13"/>
    </p:embeddedFont>
    <p:embeddedFont>
      <p:font typeface="Arial Bold" panose="020B0704020202020204" pitchFamily="34" charset="0"/>
      <p:regular r:id="rId14"/>
      <p:bold r:id="rId15"/>
    </p:embeddedFont>
    <p:embeddedFont>
      <p:font typeface="Arial Italics" panose="020B0604020202020204" charset="0"/>
      <p:regular r:id="rId16"/>
    </p:embeddedFont>
    <p:embeddedFont>
      <p:font typeface="Arimo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Georgia Bold" panose="02040802050405020203" pitchFamily="18" charset="0"/>
      <p:regular r:id="rId26"/>
      <p:bold r:id="rId27"/>
    </p:embeddedFont>
    <p:embeddedFont>
      <p:font typeface="Georgia Italics" panose="020B0604020202020204" charset="0"/>
      <p:regular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E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03" autoAdjust="0"/>
    <p:restoredTop sz="94622" autoAdjust="0"/>
  </p:normalViewPr>
  <p:slideViewPr>
    <p:cSldViewPr>
      <p:cViewPr>
        <p:scale>
          <a:sx n="28" d="100"/>
          <a:sy n="28" d="100"/>
        </p:scale>
        <p:origin x="1864" y="7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theme" Target="theme/theme1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3.jpeg"/><Relationship Id="rId10" Type="http://schemas.openxmlformats.org/officeDocument/2006/relationships/image" Target="../media/image23.png"/><Relationship Id="rId4" Type="http://schemas.openxmlformats.org/officeDocument/2006/relationships/image" Target="../media/image2.jpe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3.jpeg"/><Relationship Id="rId10" Type="http://schemas.openxmlformats.org/officeDocument/2006/relationships/image" Target="../media/image31.png"/><Relationship Id="rId4" Type="http://schemas.openxmlformats.org/officeDocument/2006/relationships/image" Target="../media/image2.jpe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85800"/>
            <a:ext cx="2057400" cy="891540"/>
            <a:chOff x="0" y="0"/>
            <a:chExt cx="2743200" cy="118872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743200" cy="1188720"/>
            </a:xfrm>
            <a:custGeom>
              <a:avLst/>
              <a:gdLst/>
              <a:ahLst/>
              <a:cxnLst/>
              <a:rect l="l" t="t" r="r" b="b"/>
              <a:pathLst>
                <a:path w="2743200" h="1188720">
                  <a:moveTo>
                    <a:pt x="0" y="0"/>
                  </a:moveTo>
                  <a:lnTo>
                    <a:pt x="2743200" y="0"/>
                  </a:lnTo>
                  <a:lnTo>
                    <a:pt x="2743200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37" r="-473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54380" y="2057400"/>
            <a:ext cx="15087600" cy="548640"/>
            <a:chOff x="0" y="0"/>
            <a:chExt cx="20116800" cy="7315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731520"/>
            </a:xfrm>
            <a:custGeom>
              <a:avLst/>
              <a:gdLst/>
              <a:ahLst/>
              <a:cxnLst/>
              <a:rect l="l" t="t" r="r" b="b"/>
              <a:pathLst>
                <a:path w="20116800" h="73152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5465" b="-48546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2050256"/>
            <a:ext cx="15087600" cy="555784"/>
            <a:chOff x="0" y="0"/>
            <a:chExt cx="20116800" cy="7410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6800" cy="741045"/>
            </a:xfrm>
            <a:custGeom>
              <a:avLst/>
              <a:gdLst/>
              <a:ahLst/>
              <a:cxnLst/>
              <a:rect l="l" t="t" r="r" b="b"/>
              <a:pathLst>
                <a:path w="20116800" h="741045">
                  <a:moveTo>
                    <a:pt x="0" y="0"/>
                  </a:moveTo>
                  <a:lnTo>
                    <a:pt x="20116800" y="0"/>
                  </a:lnTo>
                  <a:lnTo>
                    <a:pt x="201168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78951" b="-47895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01168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150">
                  <a:solidFill>
                    <a:srgbClr val="50E6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Grade 9  ·  Climate Action &amp; Sustainable Energy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4380" y="2674620"/>
            <a:ext cx="15773400" cy="1234440"/>
            <a:chOff x="0" y="0"/>
            <a:chExt cx="21031200" cy="1645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8802" b="-19880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54380" y="2653189"/>
            <a:ext cx="15773400" cy="1255871"/>
            <a:chOff x="0" y="0"/>
            <a:chExt cx="21031200" cy="16744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31200" cy="1674495"/>
            </a:xfrm>
            <a:custGeom>
              <a:avLst/>
              <a:gdLst/>
              <a:ahLst/>
              <a:cxnLst/>
              <a:rect l="l" t="t" r="r" b="b"/>
              <a:pathLst>
                <a:path w="21031200" h="1674495">
                  <a:moveTo>
                    <a:pt x="0" y="0"/>
                  </a:moveTo>
                  <a:lnTo>
                    <a:pt x="21031200" y="0"/>
                  </a:lnTo>
                  <a:lnTo>
                    <a:pt x="2103120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4726" b="-19472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031200" cy="1703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3771900"/>
            <a:ext cx="15773400" cy="617220"/>
            <a:chOff x="0" y="0"/>
            <a:chExt cx="21031200" cy="822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031200" cy="822960"/>
            </a:xfrm>
            <a:custGeom>
              <a:avLst/>
              <a:gdLst/>
              <a:ahLst/>
              <a:cxnLst/>
              <a:rect l="l" t="t" r="r" b="b"/>
              <a:pathLst>
                <a:path w="21031200" h="82296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7604" b="-447604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54380" y="3757612"/>
            <a:ext cx="15773400" cy="631507"/>
            <a:chOff x="0" y="0"/>
            <a:chExt cx="21031200" cy="8420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031200" cy="842010"/>
            </a:xfrm>
            <a:custGeom>
              <a:avLst/>
              <a:gdLst/>
              <a:ahLst/>
              <a:cxnLst/>
              <a:rect l="l" t="t" r="r" b="b"/>
              <a:pathLst>
                <a:path w="21031200" h="842010">
                  <a:moveTo>
                    <a:pt x="0" y="0"/>
                  </a:moveTo>
                  <a:lnTo>
                    <a:pt x="21031200" y="0"/>
                  </a:lnTo>
                  <a:lnTo>
                    <a:pt x="21031200" y="842010"/>
                  </a:lnTo>
                  <a:lnTo>
                    <a:pt x="0" y="84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36685" b="-43668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103120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0E6FF"/>
                  </a:solidFill>
                  <a:latin typeface="Arial"/>
                  <a:ea typeface="Arial"/>
                  <a:cs typeface="Arial"/>
                  <a:sym typeface="Arial"/>
                </a:rPr>
                <a:t>Team Worksheet  ·  Work through this together as a group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4380" y="4800600"/>
            <a:ext cx="8023860" cy="4663440"/>
            <a:chOff x="0" y="0"/>
            <a:chExt cx="10698480" cy="6217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98480" cy="6217920"/>
            </a:xfrm>
            <a:custGeom>
              <a:avLst/>
              <a:gdLst/>
              <a:ahLst/>
              <a:cxnLst/>
              <a:rect l="l" t="t" r="r" b="b"/>
              <a:pathLst>
                <a:path w="10698480" h="6217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6071616"/>
                  </a:lnTo>
                  <a:cubicBezTo>
                    <a:pt x="10698480" y="6152388"/>
                    <a:pt x="10632948" y="6217920"/>
                    <a:pt x="10552176" y="6217920"/>
                  </a:cubicBezTo>
                  <a:lnTo>
                    <a:pt x="146304" y="6217920"/>
                  </a:lnTo>
                  <a:cubicBezTo>
                    <a:pt x="65532" y="6217920"/>
                    <a:pt x="0" y="6152388"/>
                    <a:pt x="0" y="6071616"/>
                  </a:cubicBezTo>
                  <a:close/>
                </a:path>
              </a:pathLst>
            </a:custGeom>
            <a:solidFill>
              <a:srgbClr val="0A4A85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65860" y="5074920"/>
            <a:ext cx="7132320" cy="480060"/>
            <a:chOff x="0" y="0"/>
            <a:chExt cx="9509760" cy="6400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09760" cy="640080"/>
            </a:xfrm>
            <a:custGeom>
              <a:avLst/>
              <a:gdLst/>
              <a:ahLst/>
              <a:cxnLst/>
              <a:rect l="l" t="t" r="r" b="b"/>
              <a:pathLst>
                <a:path w="9509760" h="64008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9291" b="-239289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165860" y="5060632"/>
            <a:ext cx="7132320" cy="494347"/>
            <a:chOff x="0" y="0"/>
            <a:chExt cx="9509760" cy="6591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09760" cy="659130"/>
            </a:xfrm>
            <a:custGeom>
              <a:avLst/>
              <a:gdLst/>
              <a:ahLst/>
              <a:cxnLst/>
              <a:rect l="l" t="t" r="r" b="b"/>
              <a:pathLst>
                <a:path w="9509760" h="659130">
                  <a:moveTo>
                    <a:pt x="0" y="0"/>
                  </a:moveTo>
                  <a:lnTo>
                    <a:pt x="9509760" y="0"/>
                  </a:lnTo>
                  <a:lnTo>
                    <a:pt x="950976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1125" b="-23112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95097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50E6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STORY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5860" y="5623560"/>
            <a:ext cx="7132320" cy="3566160"/>
            <a:chOff x="0" y="0"/>
            <a:chExt cx="9509760" cy="47548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509760" cy="4754880"/>
            </a:xfrm>
            <a:custGeom>
              <a:avLst/>
              <a:gdLst/>
              <a:ahLst/>
              <a:cxnLst/>
              <a:rect l="l" t="t" r="r" b="b"/>
              <a:pathLst>
                <a:path w="9509760" h="4754880">
                  <a:moveTo>
                    <a:pt x="0" y="0"/>
                  </a:moveTo>
                  <a:lnTo>
                    <a:pt x="9509760" y="0"/>
                  </a:lnTo>
                  <a:lnTo>
                    <a:pt x="950976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96" r="-1419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165860" y="5559266"/>
            <a:ext cx="7132320" cy="3630454"/>
            <a:chOff x="0" y="0"/>
            <a:chExt cx="9509760" cy="48406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509760" cy="4840605"/>
            </a:xfrm>
            <a:custGeom>
              <a:avLst/>
              <a:gdLst/>
              <a:ahLst/>
              <a:cxnLst/>
              <a:rect l="l" t="t" r="r" b="b"/>
              <a:pathLst>
                <a:path w="9509760" h="4840605">
                  <a:moveTo>
                    <a:pt x="0" y="0"/>
                  </a:moveTo>
                  <a:lnTo>
                    <a:pt x="9509760" y="0"/>
                  </a:lnTo>
                  <a:lnTo>
                    <a:pt x="9509760" y="4840605"/>
                  </a:lnTo>
                  <a:lnTo>
                    <a:pt x="0" y="4840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308" r="-15308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9509760" cy="492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Villages just 50km from Indian tier-2 cities face 6-8 hours of daily power cuts. Families rely on noisy, polluting diesel generators while abundant free solar energy goes unused every day.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52560" y="4800600"/>
            <a:ext cx="8476488" cy="4663440"/>
            <a:chOff x="0" y="0"/>
            <a:chExt cx="11301984" cy="62179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301985" cy="6217920"/>
            </a:xfrm>
            <a:custGeom>
              <a:avLst/>
              <a:gdLst/>
              <a:ahLst/>
              <a:cxnLst/>
              <a:rect l="l" t="t" r="r" b="b"/>
              <a:pathLst>
                <a:path w="11301985" h="6217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55680" y="0"/>
                  </a:lnTo>
                  <a:cubicBezTo>
                    <a:pt x="11236452" y="0"/>
                    <a:pt x="11301985" y="65532"/>
                    <a:pt x="11301985" y="146304"/>
                  </a:cubicBezTo>
                  <a:lnTo>
                    <a:pt x="11301985" y="6071616"/>
                  </a:lnTo>
                  <a:cubicBezTo>
                    <a:pt x="11301985" y="6152388"/>
                    <a:pt x="11236452" y="6217920"/>
                    <a:pt x="11155680" y="6217920"/>
                  </a:cubicBezTo>
                  <a:lnTo>
                    <a:pt x="146304" y="6217920"/>
                  </a:lnTo>
                  <a:cubicBezTo>
                    <a:pt x="65532" y="6217920"/>
                    <a:pt x="0" y="6152388"/>
                    <a:pt x="0" y="6071616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464040" y="5074920"/>
            <a:ext cx="7680960" cy="480060"/>
            <a:chOff x="0" y="0"/>
            <a:chExt cx="10241280" cy="6400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9464040" y="5060632"/>
            <a:ext cx="7680960" cy="494347"/>
            <a:chOff x="0" y="0"/>
            <a:chExt cx="10241280" cy="6591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41280" cy="659130"/>
            </a:xfrm>
            <a:custGeom>
              <a:avLst/>
              <a:gdLst/>
              <a:ahLst/>
              <a:cxnLst/>
              <a:rect l="l" t="t" r="r" b="b"/>
              <a:pathLst>
                <a:path w="10241280" h="659130">
                  <a:moveTo>
                    <a:pt x="0" y="0"/>
                  </a:moveTo>
                  <a:lnTo>
                    <a:pt x="10241280" y="0"/>
                  </a:lnTo>
                  <a:lnTo>
                    <a:pt x="1024128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2750" b="-25275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10241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YOUR CHALLENGE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64040" y="5623560"/>
            <a:ext cx="7680960" cy="2057400"/>
            <a:chOff x="0" y="0"/>
            <a:chExt cx="10241280" cy="2743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2743200"/>
            </a:xfrm>
            <a:custGeom>
              <a:avLst/>
              <a:gdLst/>
              <a:ahLst/>
              <a:cxnLst/>
              <a:rect l="l" t="t" r="r" b="b"/>
              <a:pathLst>
                <a:path w="10241280" h="274320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693" b="-22693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9464040" y="5559266"/>
            <a:ext cx="7680960" cy="2121694"/>
            <a:chOff x="0" y="0"/>
            <a:chExt cx="10241280" cy="282892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41280" cy="2828925"/>
            </a:xfrm>
            <a:custGeom>
              <a:avLst/>
              <a:gdLst/>
              <a:ahLst/>
              <a:cxnLst/>
              <a:rect l="l" t="t" r="r" b="b"/>
              <a:pathLst>
                <a:path w="10241280" h="2828925">
                  <a:moveTo>
                    <a:pt x="0" y="0"/>
                  </a:moveTo>
                  <a:lnTo>
                    <a:pt x="10241280" y="0"/>
                  </a:lnTo>
                  <a:lnTo>
                    <a:pt x="10241280" y="2828925"/>
                  </a:lnTo>
                  <a:lnTo>
                    <a:pt x="0" y="28289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539" b="-20539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10241280" cy="291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Design a complete solar-powered microgrid for a 50-household village sized, costed, and governed by the community. This worksheet covers research, ideation, and design.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464040" y="7612380"/>
            <a:ext cx="7680960" cy="1920240"/>
            <a:chOff x="0" y="0"/>
            <a:chExt cx="10241280" cy="25603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241280" cy="2560320"/>
            </a:xfrm>
            <a:custGeom>
              <a:avLst/>
              <a:gdLst/>
              <a:ahLst/>
              <a:cxnLst/>
              <a:rect l="l" t="t" r="r" b="b"/>
              <a:pathLst>
                <a:path w="10241280" h="2560320">
                  <a:moveTo>
                    <a:pt x="0" y="0"/>
                  </a:moveTo>
                  <a:lnTo>
                    <a:pt x="10241280" y="0"/>
                  </a:lnTo>
                  <a:lnTo>
                    <a:pt x="102412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885" b="-27885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9464040" y="7562374"/>
            <a:ext cx="7680960" cy="1970246"/>
            <a:chOff x="0" y="0"/>
            <a:chExt cx="10241280" cy="262699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241280" cy="2626995"/>
            </a:xfrm>
            <a:custGeom>
              <a:avLst/>
              <a:gdLst/>
              <a:ahLst/>
              <a:cxnLst/>
              <a:rect l="l" t="t" r="r" b="b"/>
              <a:pathLst>
                <a:path w="10241280" h="2626995">
                  <a:moveTo>
                    <a:pt x="0" y="0"/>
                  </a:moveTo>
                  <a:lnTo>
                    <a:pt x="10241280" y="0"/>
                  </a:lnTo>
                  <a:lnTo>
                    <a:pt x="10241280" y="2626995"/>
                  </a:lnTo>
                  <a:lnTo>
                    <a:pt x="0" y="26269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961" b="-2596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10241280" cy="2693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86"/>
                </a:lnSpc>
              </a:pPr>
              <a:r>
                <a:rPr lang="en-US" sz="1725" i="1">
                  <a:solidFill>
                    <a:srgbClr val="50E6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Deliverables: real village research and load calculations  ·  a sized system design with cost analysis  ·  a governance model and pitch, ready for a rural electrification agency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4380" y="9738360"/>
            <a:ext cx="16733520" cy="384048"/>
            <a:chOff x="0" y="0"/>
            <a:chExt cx="22311360" cy="5120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311361" cy="512064"/>
            </a:xfrm>
            <a:custGeom>
              <a:avLst/>
              <a:gdLst/>
              <a:ahLst/>
              <a:cxnLst/>
              <a:rect l="l" t="t" r="r" b="b"/>
              <a:pathLst>
                <a:path w="22311361" h="512064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8400" b="-798400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754380" y="9724072"/>
            <a:ext cx="16733520" cy="398336"/>
            <a:chOff x="0" y="0"/>
            <a:chExt cx="22311360" cy="53111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2311361" cy="531114"/>
            </a:xfrm>
            <a:custGeom>
              <a:avLst/>
              <a:gdLst/>
              <a:ahLst/>
              <a:cxnLst/>
              <a:rect l="l" t="t" r="r" b="b"/>
              <a:pathLst>
                <a:path w="22311361" h="531114">
                  <a:moveTo>
                    <a:pt x="0" y="0"/>
                  </a:moveTo>
                  <a:lnTo>
                    <a:pt x="22311361" y="0"/>
                  </a:lnTo>
                  <a:lnTo>
                    <a:pt x="22311361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8539" b="-76853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2231136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FC6E8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950976"/>
            <a:chOff x="0" y="0"/>
            <a:chExt cx="24384000" cy="12679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67968"/>
            </a:xfrm>
            <a:custGeom>
              <a:avLst/>
              <a:gdLst/>
              <a:ahLst/>
              <a:cxnLst/>
              <a:rect l="l" t="t" r="r" b="b"/>
              <a:pathLst>
                <a:path w="24384000" h="1267968">
                  <a:moveTo>
                    <a:pt x="0" y="0"/>
                  </a:moveTo>
                  <a:lnTo>
                    <a:pt x="24384000" y="0"/>
                  </a:lnTo>
                  <a:lnTo>
                    <a:pt x="243840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B234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950976"/>
            <a:ext cx="18288000" cy="73152"/>
            <a:chOff x="0" y="0"/>
            <a:chExt cx="24384000" cy="975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97536"/>
            </a:xfrm>
            <a:custGeom>
              <a:avLst/>
              <a:gdLst/>
              <a:ahLst/>
              <a:cxnLst/>
              <a:rect l="l" t="t" r="r" b="b"/>
              <a:pathLst>
                <a:path w="24384000" h="97536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E938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22960" y="0"/>
            <a:ext cx="16642080" cy="950976"/>
            <a:chOff x="0" y="0"/>
            <a:chExt cx="22189440" cy="12679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189439" cy="1267968"/>
            </a:xfrm>
            <a:custGeom>
              <a:avLst/>
              <a:gdLst/>
              <a:ahLst/>
              <a:cxnLst/>
              <a:rect l="l" t="t" r="r" b="b"/>
              <a:pathLst>
                <a:path w="22189439" h="1267968">
                  <a:moveTo>
                    <a:pt x="0" y="0"/>
                  </a:moveTo>
                  <a:lnTo>
                    <a:pt x="22189439" y="0"/>
                  </a:lnTo>
                  <a:lnTo>
                    <a:pt x="22189439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751" b="-29075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22960" y="-7144"/>
            <a:ext cx="16642080" cy="958120"/>
            <a:chOff x="0" y="0"/>
            <a:chExt cx="22189440" cy="12774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89439" cy="1277493"/>
            </a:xfrm>
            <a:custGeom>
              <a:avLst/>
              <a:gdLst/>
              <a:ahLst/>
              <a:cxnLst/>
              <a:rect l="l" t="t" r="r" b="b"/>
              <a:pathLst>
                <a:path w="22189439" h="1277493">
                  <a:moveTo>
                    <a:pt x="0" y="0"/>
                  </a:moveTo>
                  <a:lnTo>
                    <a:pt x="22189439" y="0"/>
                  </a:lnTo>
                  <a:lnTo>
                    <a:pt x="22189439" y="1277493"/>
                  </a:lnTo>
                  <a:lnTo>
                    <a:pt x="0" y="12774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445" b="-28844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2189440" cy="1287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spc="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GRADE 9 · CLIMATE ACTION &amp; SUSTAINABLE ENERGY  ·  REFERENCE DATA SHEET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1207008"/>
            <a:ext cx="16642080" cy="658368"/>
            <a:chOff x="0" y="0"/>
            <a:chExt cx="22189440" cy="877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9439" cy="877824"/>
            </a:xfrm>
            <a:custGeom>
              <a:avLst/>
              <a:gdLst/>
              <a:ahLst/>
              <a:cxnLst/>
              <a:rect l="l" t="t" r="r" b="b"/>
              <a:pathLst>
                <a:path w="22189439" h="877824">
                  <a:moveTo>
                    <a:pt x="0" y="0"/>
                  </a:moveTo>
                  <a:lnTo>
                    <a:pt x="22189439" y="0"/>
                  </a:lnTo>
                  <a:lnTo>
                    <a:pt x="221894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2196" b="-442196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22960" y="1207008"/>
            <a:ext cx="16642080" cy="658368"/>
            <a:chOff x="0" y="0"/>
            <a:chExt cx="22189440" cy="8778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189439" cy="877824"/>
            </a:xfrm>
            <a:custGeom>
              <a:avLst/>
              <a:gdLst/>
              <a:ahLst/>
              <a:cxnLst/>
              <a:rect l="l" t="t" r="r" b="b"/>
              <a:pathLst>
                <a:path w="22189439" h="877824">
                  <a:moveTo>
                    <a:pt x="0" y="0"/>
                  </a:moveTo>
                  <a:lnTo>
                    <a:pt x="22189439" y="0"/>
                  </a:lnTo>
                  <a:lnTo>
                    <a:pt x="221894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2538" b="-44253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189440" cy="877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1B234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Village Profile: Rampur Kheda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1847088"/>
            <a:ext cx="16642080" cy="475488"/>
            <a:chOff x="0" y="0"/>
            <a:chExt cx="22189440" cy="6339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189439" cy="633984"/>
            </a:xfrm>
            <a:custGeom>
              <a:avLst/>
              <a:gdLst/>
              <a:ahLst/>
              <a:cxnLst/>
              <a:rect l="l" t="t" r="r" b="b"/>
              <a:pathLst>
                <a:path w="22189439" h="633984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502" b="-63150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22960" y="1847088"/>
            <a:ext cx="16642080" cy="475488"/>
            <a:chOff x="0" y="0"/>
            <a:chExt cx="22189440" cy="6339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189439" cy="633984"/>
            </a:xfrm>
            <a:custGeom>
              <a:avLst/>
              <a:gdLst/>
              <a:ahLst/>
              <a:cxnLst/>
              <a:rect l="l" t="t" r="r" b="b"/>
              <a:pathLst>
                <a:path w="22189439" h="633984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1976" b="-63197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2189440" cy="63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8"/>
                </a:lnSpc>
              </a:pPr>
              <a:r>
                <a:rPr lang="en-US" sz="1998" i="1">
                  <a:solidFill>
                    <a:srgbClr val="6B7280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An imaginary village, built for this project. Use this data instead of visiting or surveying a real village.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10454" y="2438086"/>
            <a:ext cx="3979783" cy="1195435"/>
          </a:xfrm>
          <a:custGeom>
            <a:avLst/>
            <a:gdLst/>
            <a:ahLst/>
            <a:cxnLst/>
            <a:rect l="l" t="t" r="r" b="b"/>
            <a:pathLst>
              <a:path w="3979783" h="1195435">
                <a:moveTo>
                  <a:pt x="0" y="0"/>
                </a:moveTo>
                <a:lnTo>
                  <a:pt x="3979783" y="0"/>
                </a:lnTo>
                <a:lnTo>
                  <a:pt x="3979783" y="1195435"/>
                </a:lnTo>
                <a:lnTo>
                  <a:pt x="0" y="119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005840" y="2560320"/>
            <a:ext cx="3589020" cy="365760"/>
            <a:chOff x="0" y="0"/>
            <a:chExt cx="4785360" cy="4876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85360" cy="487680"/>
            </a:xfrm>
            <a:custGeom>
              <a:avLst/>
              <a:gdLst/>
              <a:ahLst/>
              <a:cxnLst/>
              <a:rect l="l" t="t" r="r" b="b"/>
              <a:pathLst>
                <a:path w="4785360" h="487680">
                  <a:moveTo>
                    <a:pt x="0" y="0"/>
                  </a:moveTo>
                  <a:lnTo>
                    <a:pt x="4785360" y="0"/>
                  </a:lnTo>
                  <a:lnTo>
                    <a:pt x="478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065" b="-141062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05840" y="2546033"/>
            <a:ext cx="3589020" cy="380047"/>
            <a:chOff x="0" y="0"/>
            <a:chExt cx="4785360" cy="50673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85360" cy="506730"/>
            </a:xfrm>
            <a:custGeom>
              <a:avLst/>
              <a:gdLst/>
              <a:ahLst/>
              <a:cxnLst/>
              <a:rect l="l" t="t" r="r" b="b"/>
              <a:pathLst>
                <a:path w="4785360" h="506730">
                  <a:moveTo>
                    <a:pt x="0" y="0"/>
                  </a:moveTo>
                  <a:lnTo>
                    <a:pt x="4785360" y="0"/>
                  </a:lnTo>
                  <a:lnTo>
                    <a:pt x="478536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009" b="-134009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78536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0E938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LOCATION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97280" y="2933700"/>
            <a:ext cx="3406140" cy="60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b="1">
                <a:solidFill>
                  <a:srgbClr val="1F2937"/>
                </a:solidFill>
                <a:latin typeface="Georgia Bold"/>
                <a:ea typeface="Georgia Bold"/>
                <a:cs typeface="Georgia Bold"/>
                <a:sym typeface="Georgia Bold"/>
              </a:rPr>
              <a:t>38 km from Nashik</a:t>
            </a:r>
          </a:p>
        </p:txBody>
      </p:sp>
      <p:sp>
        <p:nvSpPr>
          <p:cNvPr id="28" name="Freeform 28"/>
          <p:cNvSpPr/>
          <p:nvPr/>
        </p:nvSpPr>
        <p:spPr>
          <a:xfrm>
            <a:off x="5039554" y="2438086"/>
            <a:ext cx="3979783" cy="1195435"/>
          </a:xfrm>
          <a:custGeom>
            <a:avLst/>
            <a:gdLst/>
            <a:ahLst/>
            <a:cxnLst/>
            <a:rect l="l" t="t" r="r" b="b"/>
            <a:pathLst>
              <a:path w="3979783" h="1195435">
                <a:moveTo>
                  <a:pt x="0" y="0"/>
                </a:moveTo>
                <a:lnTo>
                  <a:pt x="3979783" y="0"/>
                </a:lnTo>
                <a:lnTo>
                  <a:pt x="3979783" y="1195435"/>
                </a:lnTo>
                <a:lnTo>
                  <a:pt x="0" y="119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5234940" y="2560320"/>
            <a:ext cx="3589020" cy="365760"/>
            <a:chOff x="0" y="0"/>
            <a:chExt cx="4785360" cy="4876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85360" cy="487680"/>
            </a:xfrm>
            <a:custGeom>
              <a:avLst/>
              <a:gdLst/>
              <a:ahLst/>
              <a:cxnLst/>
              <a:rect l="l" t="t" r="r" b="b"/>
              <a:pathLst>
                <a:path w="4785360" h="487680">
                  <a:moveTo>
                    <a:pt x="0" y="0"/>
                  </a:moveTo>
                  <a:lnTo>
                    <a:pt x="4785360" y="0"/>
                  </a:lnTo>
                  <a:lnTo>
                    <a:pt x="478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065" b="-141062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5234940" y="2546033"/>
            <a:ext cx="3589020" cy="380047"/>
            <a:chOff x="0" y="0"/>
            <a:chExt cx="4785360" cy="50673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85360" cy="506730"/>
            </a:xfrm>
            <a:custGeom>
              <a:avLst/>
              <a:gdLst/>
              <a:ahLst/>
              <a:cxnLst/>
              <a:rect l="l" t="t" r="r" b="b"/>
              <a:pathLst>
                <a:path w="4785360" h="506730">
                  <a:moveTo>
                    <a:pt x="0" y="0"/>
                  </a:moveTo>
                  <a:lnTo>
                    <a:pt x="4785360" y="0"/>
                  </a:lnTo>
                  <a:lnTo>
                    <a:pt x="478536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009" b="-13400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478536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0E938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POPULATION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326380" y="2933700"/>
            <a:ext cx="3406140" cy="60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b="1">
                <a:solidFill>
                  <a:srgbClr val="1F2937"/>
                </a:solidFill>
                <a:latin typeface="Georgia Bold"/>
                <a:ea typeface="Georgia Bold"/>
                <a:cs typeface="Georgia Bold"/>
                <a:sym typeface="Georgia Bold"/>
              </a:rPr>
              <a:t>2,400 people</a:t>
            </a:r>
          </a:p>
        </p:txBody>
      </p:sp>
      <p:sp>
        <p:nvSpPr>
          <p:cNvPr id="35" name="Freeform 35"/>
          <p:cNvSpPr/>
          <p:nvPr/>
        </p:nvSpPr>
        <p:spPr>
          <a:xfrm>
            <a:off x="9268654" y="2438086"/>
            <a:ext cx="3979783" cy="1195435"/>
          </a:xfrm>
          <a:custGeom>
            <a:avLst/>
            <a:gdLst/>
            <a:ahLst/>
            <a:cxnLst/>
            <a:rect l="l" t="t" r="r" b="b"/>
            <a:pathLst>
              <a:path w="3979783" h="1195435">
                <a:moveTo>
                  <a:pt x="0" y="0"/>
                </a:moveTo>
                <a:lnTo>
                  <a:pt x="3979783" y="0"/>
                </a:lnTo>
                <a:lnTo>
                  <a:pt x="3979783" y="1195435"/>
                </a:lnTo>
                <a:lnTo>
                  <a:pt x="0" y="119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9464040" y="2560320"/>
            <a:ext cx="3589020" cy="365760"/>
            <a:chOff x="0" y="0"/>
            <a:chExt cx="4785360" cy="4876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85360" cy="487680"/>
            </a:xfrm>
            <a:custGeom>
              <a:avLst/>
              <a:gdLst/>
              <a:ahLst/>
              <a:cxnLst/>
              <a:rect l="l" t="t" r="r" b="b"/>
              <a:pathLst>
                <a:path w="4785360" h="487680">
                  <a:moveTo>
                    <a:pt x="0" y="0"/>
                  </a:moveTo>
                  <a:lnTo>
                    <a:pt x="4785360" y="0"/>
                  </a:lnTo>
                  <a:lnTo>
                    <a:pt x="478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065" b="-141062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9464040" y="2546033"/>
            <a:ext cx="3589020" cy="380047"/>
            <a:chOff x="0" y="0"/>
            <a:chExt cx="4785360" cy="50673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85360" cy="506730"/>
            </a:xfrm>
            <a:custGeom>
              <a:avLst/>
              <a:gdLst/>
              <a:ahLst/>
              <a:cxnLst/>
              <a:rect l="l" t="t" r="r" b="b"/>
              <a:pathLst>
                <a:path w="4785360" h="506730">
                  <a:moveTo>
                    <a:pt x="0" y="0"/>
                  </a:moveTo>
                  <a:lnTo>
                    <a:pt x="4785360" y="0"/>
                  </a:lnTo>
                  <a:lnTo>
                    <a:pt x="478536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009" b="-13400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478536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0E938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HOUSEHOLDS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555480" y="2933700"/>
            <a:ext cx="3406140" cy="60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b="1">
                <a:solidFill>
                  <a:srgbClr val="1F2937"/>
                </a:solidFill>
                <a:latin typeface="Georgia Bold"/>
                <a:ea typeface="Georgia Bold"/>
                <a:cs typeface="Georgia Bold"/>
                <a:sym typeface="Georgia Bold"/>
              </a:rPr>
              <a:t>480 households</a:t>
            </a:r>
          </a:p>
        </p:txBody>
      </p:sp>
      <p:sp>
        <p:nvSpPr>
          <p:cNvPr id="42" name="Freeform 42"/>
          <p:cNvSpPr/>
          <p:nvPr/>
        </p:nvSpPr>
        <p:spPr>
          <a:xfrm>
            <a:off x="13497754" y="2438086"/>
            <a:ext cx="3979783" cy="1195435"/>
          </a:xfrm>
          <a:custGeom>
            <a:avLst/>
            <a:gdLst/>
            <a:ahLst/>
            <a:cxnLst/>
            <a:rect l="l" t="t" r="r" b="b"/>
            <a:pathLst>
              <a:path w="3979783" h="1195435">
                <a:moveTo>
                  <a:pt x="0" y="0"/>
                </a:moveTo>
                <a:lnTo>
                  <a:pt x="3979783" y="0"/>
                </a:lnTo>
                <a:lnTo>
                  <a:pt x="3979783" y="1195435"/>
                </a:lnTo>
                <a:lnTo>
                  <a:pt x="0" y="119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13693140" y="2560320"/>
            <a:ext cx="3589020" cy="365760"/>
            <a:chOff x="0" y="0"/>
            <a:chExt cx="4785360" cy="4876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785360" cy="487680"/>
            </a:xfrm>
            <a:custGeom>
              <a:avLst/>
              <a:gdLst/>
              <a:ahLst/>
              <a:cxnLst/>
              <a:rect l="l" t="t" r="r" b="b"/>
              <a:pathLst>
                <a:path w="4785360" h="487680">
                  <a:moveTo>
                    <a:pt x="0" y="0"/>
                  </a:moveTo>
                  <a:lnTo>
                    <a:pt x="4785360" y="0"/>
                  </a:lnTo>
                  <a:lnTo>
                    <a:pt x="478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065" b="-141062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3693140" y="2546033"/>
            <a:ext cx="3589020" cy="380047"/>
            <a:chOff x="0" y="0"/>
            <a:chExt cx="4785360" cy="50673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785360" cy="506730"/>
            </a:xfrm>
            <a:custGeom>
              <a:avLst/>
              <a:gdLst/>
              <a:ahLst/>
              <a:cxnLst/>
              <a:rect l="l" t="t" r="r" b="b"/>
              <a:pathLst>
                <a:path w="4785360" h="506730">
                  <a:moveTo>
                    <a:pt x="0" y="0"/>
                  </a:moveTo>
                  <a:lnTo>
                    <a:pt x="4785360" y="0"/>
                  </a:lnTo>
                  <a:lnTo>
                    <a:pt x="478536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009" b="-13400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478536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0E938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POWER CUTS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784580" y="2933700"/>
            <a:ext cx="3406140" cy="60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b="1">
                <a:solidFill>
                  <a:srgbClr val="1F2937"/>
                </a:solidFill>
                <a:latin typeface="Georgia Bold"/>
                <a:ea typeface="Georgia Bold"/>
                <a:cs typeface="Georgia Bold"/>
                <a:sym typeface="Georgia Bold"/>
              </a:rPr>
              <a:t>4–6 hrs/day (up to 8 in summer)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822960" y="3803904"/>
            <a:ext cx="16642080" cy="475488"/>
            <a:chOff x="0" y="0"/>
            <a:chExt cx="22189440" cy="6339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189439" cy="633984"/>
            </a:xfrm>
            <a:custGeom>
              <a:avLst/>
              <a:gdLst/>
              <a:ahLst/>
              <a:cxnLst/>
              <a:rect l="l" t="t" r="r" b="b"/>
              <a:pathLst>
                <a:path w="22189439" h="633984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502" b="-631502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822960" y="3803904"/>
            <a:ext cx="16642080" cy="475488"/>
            <a:chOff x="0" y="0"/>
            <a:chExt cx="22189440" cy="6339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189439" cy="633984"/>
            </a:xfrm>
            <a:custGeom>
              <a:avLst/>
              <a:gdLst/>
              <a:ahLst/>
              <a:cxnLst/>
              <a:rect l="l" t="t" r="r" b="b"/>
              <a:pathLst>
                <a:path w="22189439" h="633984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1976" b="-63197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22189440" cy="63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0E938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MAIN ECONOMIC ACTIVITIES   </a:t>
              </a:r>
              <a:r>
                <a:rPr lang="en-US" sz="1899">
                  <a:solidFill>
                    <a:srgbClr val="1F2937"/>
                  </a:solidFill>
                  <a:latin typeface="Georgia"/>
                  <a:ea typeface="Georgia"/>
                  <a:cs typeface="Georgia"/>
                  <a:sym typeface="Georgia"/>
                </a:rPr>
                <a:t>Wheat and cotton farming, a small dairy business, a flour mill, and a few household shops.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22960" y="4389120"/>
            <a:ext cx="16642080" cy="512064"/>
            <a:chOff x="0" y="0"/>
            <a:chExt cx="22189440" cy="68275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823" b="-582823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822960" y="4389120"/>
            <a:ext cx="16642080" cy="512064"/>
            <a:chOff x="0" y="0"/>
            <a:chExt cx="22189440" cy="6827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2218944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8"/>
                </a:lnSpc>
              </a:pPr>
              <a:r>
                <a:rPr lang="en-US" sz="2400" b="1">
                  <a:solidFill>
                    <a:srgbClr val="1B234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 Sample Households — Appliance Use During Power Cuts</a:t>
              </a:r>
            </a:p>
          </p:txBody>
        </p:sp>
      </p:grpSp>
      <p:graphicFrame>
        <p:nvGraphicFramePr>
          <p:cNvPr id="59" name="Table 59"/>
          <p:cNvGraphicFramePr>
            <a:graphicFrameLocks noGrp="1"/>
          </p:cNvGraphicFramePr>
          <p:nvPr/>
        </p:nvGraphicFramePr>
        <p:xfrm>
          <a:off x="822960" y="4974337"/>
          <a:ext cx="16586200" cy="4648198"/>
        </p:xfrm>
        <a:graphic>
          <a:graphicData uri="http://schemas.openxmlformats.org/drawingml/2006/table">
            <a:tbl>
              <a:tblPr/>
              <a:tblGrid>
                <a:gridCol w="339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453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Household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Main Activity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Appliances Used During Power Cuts (Wattage, Hours)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94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 Sharma Family (5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Farming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Water pump (750W, 2 hrs) · Lights, 3 bulbs (15W each, 4 hrs) · Fan (75W, 6 hrs) · Mobile charging (10W, 2 hrs)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94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 Patel Family (4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Runs a small shop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Shop tube lights, 2 (40W each, 5 hrs) · Small fridge for cold drinks (150W, 24 hrs) · Fan (75W, 5 hrs) · TV (100W, 2 hrs)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94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3. Yadav Family (6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Dairy farming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Milk chiller — spoils if off too long (500W, 4 hrs) · Lights, 2 bulbs (15W each, 4 hrs) · Fan (75W, 6 hrs) · Water pump (750W, 1 hr)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094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4. Khan Family (5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Runs a flour mill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Flour mill motor (1500W, 3 hrs) · Lights, 3 bulbs (15W each, 4 hrs) · Fan (75W, 5 hrs) · Mobile charging (10W, 3 hrs)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094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5. Devi Family (4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Daily-wage labour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Lights, 2 bulbs (15W each, 4 hrs) · Fan (75W, 6 hrs) · Mobile charging (10W, 2 hrs) — no major appliances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0" name="Group 60"/>
          <p:cNvGrpSpPr/>
          <p:nvPr/>
        </p:nvGrpSpPr>
        <p:grpSpPr>
          <a:xfrm>
            <a:off x="0" y="9774936"/>
            <a:ext cx="18288000" cy="512064"/>
            <a:chOff x="0" y="0"/>
            <a:chExt cx="24384000" cy="6827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4384000" cy="682752"/>
            </a:xfrm>
            <a:custGeom>
              <a:avLst/>
              <a:gdLst/>
              <a:ahLst/>
              <a:cxnLst/>
              <a:rect l="l" t="t" r="r" b="b"/>
              <a:pathLst>
                <a:path w="24384000" h="682752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5411" b="-645409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0" y="9760648"/>
            <a:ext cx="18288000" cy="526352"/>
            <a:chOff x="0" y="0"/>
            <a:chExt cx="24384000" cy="70180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4384000" cy="701802"/>
            </a:xfrm>
            <a:custGeom>
              <a:avLst/>
              <a:gdLst/>
              <a:ahLst/>
              <a:cxnLst/>
              <a:rect l="l" t="t" r="r" b="b"/>
              <a:pathLst>
                <a:path w="24384000" h="701802">
                  <a:moveTo>
                    <a:pt x="0" y="0"/>
                  </a:moveTo>
                  <a:lnTo>
                    <a:pt x="24384000" y="0"/>
                  </a:lnTo>
                  <a:lnTo>
                    <a:pt x="24384000" y="701802"/>
                  </a:lnTo>
                  <a:lnTo>
                    <a:pt x="0" y="701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27004" b="-627004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243840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Georgia"/>
                  <a:ea typeface="Georgia"/>
                  <a:cs typeface="Georgia"/>
                  <a:sym typeface="Georgia"/>
                </a:rPr>
                <a:t>HCL JIGSAW  |  Edition 7  |  Grade 9 · Climate Action &amp; Sustainable Energy  |  Reference Data Sheet — Imaginary Village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640" y="384048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481328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467041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1  ·  RESEARCH THE VILLAGE'S NEEDS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0080" y="2057400"/>
            <a:ext cx="17003268" cy="180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Q1.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Research the imaginary village data given in the previous slide and write down the following : its population, number of households, current power-cut situation, and main economic activities. Then estimate from research 5 households' appliance needs during power cuts list appliances, wattage, and hours of use.</a:t>
            </a:r>
          </a:p>
        </p:txBody>
      </p:sp>
      <p:sp>
        <p:nvSpPr>
          <p:cNvPr id="21" name="Freeform 21"/>
          <p:cNvSpPr/>
          <p:nvPr/>
        </p:nvSpPr>
        <p:spPr>
          <a:xfrm>
            <a:off x="632936" y="3162776"/>
            <a:ext cx="17219486" cy="6508432"/>
          </a:xfrm>
          <a:custGeom>
            <a:avLst/>
            <a:gdLst/>
            <a:ahLst/>
            <a:cxnLst/>
            <a:rect l="l" t="t" r="r" b="b"/>
            <a:pathLst>
              <a:path w="17219486" h="6508432">
                <a:moveTo>
                  <a:pt x="0" y="0"/>
                </a:moveTo>
                <a:lnTo>
                  <a:pt x="17219486" y="0"/>
                </a:lnTo>
                <a:lnTo>
                  <a:pt x="17219486" y="6508433"/>
                </a:lnTo>
                <a:lnTo>
                  <a:pt x="0" y="6508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37310" y="3251816"/>
            <a:ext cx="365512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sz="2049" b="1" spc="156">
                <a:solidFill>
                  <a:srgbClr val="0E9384"/>
                </a:solidFill>
                <a:latin typeface="Arial Bold"/>
                <a:ea typeface="Arial Bold"/>
                <a:cs typeface="Arial Bold"/>
                <a:sym typeface="Arial Bold"/>
              </a:rPr>
              <a:t>Population of the village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25982" y="3236243"/>
            <a:ext cx="370536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sz="2049" b="1" spc="156">
                <a:solidFill>
                  <a:srgbClr val="0E9384"/>
                </a:solidFill>
                <a:latin typeface="Arial Bold"/>
                <a:ea typeface="Arial Bold"/>
                <a:cs typeface="Arial Bold"/>
                <a:sym typeface="Arial Bold"/>
              </a:rPr>
              <a:t>Number of households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13076" y="3220669"/>
            <a:ext cx="3378708" cy="354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217" b="1" spc="169">
                <a:solidFill>
                  <a:srgbClr val="0E9384"/>
                </a:solidFill>
                <a:latin typeface="Arial Bold"/>
                <a:ea typeface="Arial Bold"/>
                <a:cs typeface="Arial Bold"/>
                <a:sym typeface="Arial Bold"/>
              </a:rPr>
              <a:t>Power cut per day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22655" y="3385318"/>
            <a:ext cx="884434" cy="52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2400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64940" y="3426743"/>
            <a:ext cx="788660" cy="49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480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03601" y="3570284"/>
            <a:ext cx="2597648" cy="35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1838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upto 8 hrs in summer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6879" y="3990318"/>
            <a:ext cx="16642080" cy="617953"/>
            <a:chOff x="0" y="0"/>
            <a:chExt cx="22189440" cy="8239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189439" cy="823976"/>
            </a:xfrm>
            <a:custGeom>
              <a:avLst/>
              <a:gdLst/>
              <a:ahLst/>
              <a:cxnLst/>
              <a:rect l="l" t="t" r="r" b="b"/>
              <a:pathLst>
                <a:path w="22189439" h="823976">
                  <a:moveTo>
                    <a:pt x="0" y="0"/>
                  </a:moveTo>
                  <a:lnTo>
                    <a:pt x="22189439" y="0"/>
                  </a:lnTo>
                  <a:lnTo>
                    <a:pt x="22189439" y="823976"/>
                  </a:lnTo>
                  <a:lnTo>
                    <a:pt x="0" y="823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363" b="-474360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36879" y="3990318"/>
            <a:ext cx="16642080" cy="617953"/>
            <a:chOff x="0" y="0"/>
            <a:chExt cx="22189440" cy="8239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89439" cy="823937"/>
            </a:xfrm>
            <a:custGeom>
              <a:avLst/>
              <a:gdLst/>
              <a:ahLst/>
              <a:cxnLst/>
              <a:rect l="l" t="t" r="r" b="b"/>
              <a:pathLst>
                <a:path w="22189439" h="823937">
                  <a:moveTo>
                    <a:pt x="0" y="0"/>
                  </a:moveTo>
                  <a:lnTo>
                    <a:pt x="22189439" y="0"/>
                  </a:lnTo>
                  <a:lnTo>
                    <a:pt x="22189439" y="823937"/>
                  </a:lnTo>
                  <a:lnTo>
                    <a:pt x="0" y="82393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74751" b="-47475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2189440" cy="8239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0E938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MAIN ECONOMIC ACTIVITIES   </a:t>
              </a:r>
              <a:r>
                <a:rPr lang="en-US" sz="1899">
                  <a:solidFill>
                    <a:srgbClr val="1F2937"/>
                  </a:solidFill>
                  <a:latin typeface="Georgia"/>
                  <a:ea typeface="Georgia"/>
                  <a:cs typeface="Georgia"/>
                  <a:sym typeface="Georgia"/>
                </a:rPr>
                <a:t>Wheat and cotton farming, a small dairy business, a flour mill, and a few household shops.</a:t>
              </a:r>
            </a:p>
          </p:txBody>
        </p:sp>
      </p:grpSp>
      <p:graphicFrame>
        <p:nvGraphicFramePr>
          <p:cNvPr id="33" name="Table 33"/>
          <p:cNvGraphicFramePr>
            <a:graphicFrameLocks noGrp="1"/>
          </p:cNvGraphicFramePr>
          <p:nvPr/>
        </p:nvGraphicFramePr>
        <p:xfrm>
          <a:off x="936879" y="4767043"/>
          <a:ext cx="16586200" cy="4658063"/>
        </p:xfrm>
        <a:graphic>
          <a:graphicData uri="http://schemas.openxmlformats.org/drawingml/2006/table">
            <a:tbl>
              <a:tblPr/>
              <a:tblGrid>
                <a:gridCol w="339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45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Household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Main Activity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Appliances Used During Power Cuts (Wattage, Hours)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946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 Sharma Family (5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Farming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Water pump (750W, 2 hrs) · Lights, 3 bulbs (15W each, 4 hrs) · Fan (75W, 6 hrs) · Mobile charging (10W, 2 hrs)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946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 Patel Family (4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Runs a small shop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Shop tube lights, 2 (40W each, 5 hrs) · Small fridge for cold drinks (150W, 24 hrs) · Fan (75W, 5 hrs) · TV (100W, 2 hrs)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828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3. Yadav Family (6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Dairy farming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Milk chiller — spoils if off too long (500W, 4 hrs) · Lights, 2 bulbs (15W each, 4 hrs) · Fan (75W, 6 hrs) · Water pump (750W, 1 hr)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0946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4. Khan Family (5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Runs a flour mill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Flour mill motor (1500W, 3 hrs) · Lights, 3 bulbs (15W each, 4 hrs) · Fan (75W, 5 hrs) · Mobile charging (10W, 3 hrs)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0946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5. Devi Family (4 members)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Daily-wage labour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Lights, 2 bulbs (15W each, 4 hrs) · Fan (75W, 6 hrs) · Mobile charging (10W, 2 hrs) — no major appliances</a:t>
                      </a:r>
                      <a:endParaRPr lang="en-US" sz="1100"/>
                    </a:p>
                  </a:txBody>
                  <a:tcPr marL="121920" marR="121920" marT="121920" marB="1219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9115" y="390401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271330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257043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1  ·  RESEARCH THE VILLAGE'S NEEDS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5416" y="1807635"/>
            <a:ext cx="17003268" cy="180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Q2.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Calculate the average household energy need during a power cut (Wh, then kWh). Then calculate the village's total daily energy need: 50 households × average need, plus 20% for community loads (street lights, water pump, etc.). Show your working.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1971" y="2853795"/>
            <a:ext cx="17219486" cy="6228683"/>
          </a:xfrm>
          <a:custGeom>
            <a:avLst/>
            <a:gdLst/>
            <a:ahLst/>
            <a:cxnLst/>
            <a:rect l="l" t="t" r="r" b="b"/>
            <a:pathLst>
              <a:path w="17219486" h="6228683">
                <a:moveTo>
                  <a:pt x="0" y="0"/>
                </a:moveTo>
                <a:lnTo>
                  <a:pt x="17219486" y="0"/>
                </a:lnTo>
                <a:lnTo>
                  <a:pt x="17219486" y="6228683"/>
                </a:lnTo>
                <a:lnTo>
                  <a:pt x="0" y="62286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328251" y="2011794"/>
            <a:ext cx="17959749" cy="7781420"/>
            <a:chOff x="0" y="0"/>
            <a:chExt cx="23946333" cy="103752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946358" cy="10375265"/>
            </a:xfrm>
            <a:custGeom>
              <a:avLst/>
              <a:gdLst/>
              <a:ahLst/>
              <a:cxnLst/>
              <a:rect l="l" t="t" r="r" b="b"/>
              <a:pathLst>
                <a:path w="23946358" h="10375265">
                  <a:moveTo>
                    <a:pt x="0" y="0"/>
                  </a:moveTo>
                  <a:lnTo>
                    <a:pt x="23946358" y="0"/>
                  </a:lnTo>
                  <a:lnTo>
                    <a:pt x="23946358" y="10375265"/>
                  </a:lnTo>
                  <a:lnTo>
                    <a:pt x="0" y="10375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28" r="-5628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328251" y="1996888"/>
            <a:ext cx="17959749" cy="7796336"/>
            <a:chOff x="0" y="0"/>
            <a:chExt cx="23946333" cy="103951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946335" cy="10395121"/>
            </a:xfrm>
            <a:custGeom>
              <a:avLst/>
              <a:gdLst/>
              <a:ahLst/>
              <a:cxnLst/>
              <a:rect l="l" t="t" r="r" b="b"/>
              <a:pathLst>
                <a:path w="23946335" h="10395121">
                  <a:moveTo>
                    <a:pt x="0" y="0"/>
                  </a:moveTo>
                  <a:lnTo>
                    <a:pt x="23946335" y="0"/>
                  </a:lnTo>
                  <a:lnTo>
                    <a:pt x="23946335" y="10395121"/>
                  </a:lnTo>
                  <a:lnTo>
                    <a:pt x="0" y="103951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96" r="-569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3946333" cy="1041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AAAAA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Type your answer here…</a:t>
              </a:r>
            </a:p>
          </p:txBody>
        </p:sp>
      </p:grpSp>
      <p:graphicFrame>
        <p:nvGraphicFramePr>
          <p:cNvPr id="27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10360"/>
              </p:ext>
            </p:extLst>
          </p:nvPr>
        </p:nvGraphicFramePr>
        <p:xfrm>
          <a:off x="609600" y="2767754"/>
          <a:ext cx="17112611" cy="6278825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3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87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Household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Appliance &amp; Usage Breakdown Calculation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Daily Subtotal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501"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F172A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Sharma Family                           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(750×2) + (3×15×4) + (75×6) + (10×2)   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2,150 Wh / day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652"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0F172A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Patel Family                               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(2×40×5) + (150×24) + (75×5) + (100×2)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 4,575 </a:t>
                      </a:r>
                      <a:r>
                        <a:rPr lang="en-US" sz="1799" b="1" dirty="0" err="1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Wh</a:t>
                      </a:r>
                      <a:r>
                        <a:rPr lang="en-US" sz="1799" b="1" dirty="0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/ day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65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Yadav Family  </a:t>
                      </a: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apples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       </a:t>
                      </a:r>
                      <a:r>
                        <a:rPr lang="en-US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                                                                                                                        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                                                           (500×4) + (2×15×4) + (75×6) + (750×1)         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 3,320 </a:t>
                      </a:r>
                      <a:r>
                        <a:rPr lang="en-US" sz="1799" b="1" dirty="0" err="1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Wh</a:t>
                      </a:r>
                      <a:r>
                        <a:rPr lang="en-US" sz="1799" b="1" dirty="0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/ day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045"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0F172A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Khan Family    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                                                               (1500×3) + (3×15×4) + (75×5) + (10×3)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F172A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 5,085 Wh / day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0045"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F172A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Devi Family                                     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(2×15×4) + (75×6) + (10×2)                  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F172A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  590 Wh / day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402"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Scaling (50 Households)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                                       Average (3,144 Wh) scaled across 50 units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8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F172A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157.2 kWh / day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665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Total Requirement             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(Incl. 20% Community Overhead): 157.2 kWh + 31.44 kWh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E9384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188.64 kWh / day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640" y="384048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481328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467041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2  ·  SIZE YOUR SOLAR SYSTEM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0080" y="2057400"/>
            <a:ext cx="17003268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Q3.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average peak sun hours at the village is 5-6 hrs. Calculate the solar array size needed (Daily kWh ÷ peak sun hours ÷ system efficiency ≈ 0.75–0.8 = kW needed), and how many panels that requires using a real panel wattage.  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1971" y="3110579"/>
            <a:ext cx="17219486" cy="6436519"/>
          </a:xfrm>
          <a:custGeom>
            <a:avLst/>
            <a:gdLst/>
            <a:ahLst/>
            <a:cxnLst/>
            <a:rect l="l" t="t" r="r" b="b"/>
            <a:pathLst>
              <a:path w="17219486" h="6436519">
                <a:moveTo>
                  <a:pt x="0" y="0"/>
                </a:moveTo>
                <a:lnTo>
                  <a:pt x="17219486" y="0"/>
                </a:lnTo>
                <a:lnTo>
                  <a:pt x="17219486" y="6436519"/>
                </a:lnTo>
                <a:lnTo>
                  <a:pt x="0" y="64365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558155" y="3375689"/>
            <a:ext cx="17186148" cy="6403257"/>
            <a:chOff x="0" y="0"/>
            <a:chExt cx="22914864" cy="85376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914863" cy="8537702"/>
            </a:xfrm>
            <a:custGeom>
              <a:avLst/>
              <a:gdLst/>
              <a:ahLst/>
              <a:cxnLst/>
              <a:rect l="l" t="t" r="r" b="b"/>
              <a:pathLst>
                <a:path w="22914863" h="8537702">
                  <a:moveTo>
                    <a:pt x="0" y="0"/>
                  </a:moveTo>
                  <a:lnTo>
                    <a:pt x="22914863" y="0"/>
                  </a:lnTo>
                  <a:lnTo>
                    <a:pt x="22914863" y="8537702"/>
                  </a:lnTo>
                  <a:lnTo>
                    <a:pt x="0" y="85377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60" b="-2260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558155" y="3361401"/>
            <a:ext cx="17186148" cy="6417535"/>
            <a:chOff x="0" y="0"/>
            <a:chExt cx="22914864" cy="85567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914865" cy="8556718"/>
            </a:xfrm>
            <a:custGeom>
              <a:avLst/>
              <a:gdLst/>
              <a:ahLst/>
              <a:cxnLst/>
              <a:rect l="l" t="t" r="r" b="b"/>
              <a:pathLst>
                <a:path w="22914865" h="8556718">
                  <a:moveTo>
                    <a:pt x="0" y="0"/>
                  </a:moveTo>
                  <a:lnTo>
                    <a:pt x="22914865" y="0"/>
                  </a:lnTo>
                  <a:lnTo>
                    <a:pt x="22914865" y="8556718"/>
                  </a:lnTo>
                  <a:lnTo>
                    <a:pt x="0" y="85567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80" b="-218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2914864" cy="8575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AAAAA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Type your answer here…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3469605"/>
            <a:ext cx="15354300" cy="1020128"/>
            <a:chOff x="0" y="0"/>
            <a:chExt cx="20472400" cy="13601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472400" cy="1360171"/>
            </a:xfrm>
            <a:custGeom>
              <a:avLst/>
              <a:gdLst/>
              <a:ahLst/>
              <a:cxnLst/>
              <a:rect l="l" t="t" r="r" b="b"/>
              <a:pathLst>
                <a:path w="20472400" h="1360171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20245705" y="0"/>
                  </a:lnTo>
                  <a:cubicBezTo>
                    <a:pt x="20370927" y="0"/>
                    <a:pt x="20472400" y="101473"/>
                    <a:pt x="20472400" y="226695"/>
                  </a:cubicBezTo>
                  <a:lnTo>
                    <a:pt x="20472400" y="1133476"/>
                  </a:lnTo>
                  <a:cubicBezTo>
                    <a:pt x="20472400" y="1258698"/>
                    <a:pt x="20370927" y="1360171"/>
                    <a:pt x="20245705" y="1360171"/>
                  </a:cubicBezTo>
                  <a:lnTo>
                    <a:pt x="226695" y="1360171"/>
                  </a:lnTo>
                  <a:cubicBezTo>
                    <a:pt x="101473" y="1360171"/>
                    <a:pt x="0" y="1258698"/>
                    <a:pt x="0" y="1133476"/>
                  </a:cubicBezTo>
                  <a:close/>
                </a:path>
              </a:pathLst>
            </a:custGeom>
            <a:solidFill>
              <a:srgbClr val="0E938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20472400" cy="1369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Target Daily Requirement                                                                                                                                                                      188.64 kWh         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47750" y="4708808"/>
            <a:ext cx="15354300" cy="1020127"/>
            <a:chOff x="0" y="0"/>
            <a:chExt cx="20472400" cy="13601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472400" cy="1360170"/>
            </a:xfrm>
            <a:custGeom>
              <a:avLst/>
              <a:gdLst/>
              <a:ahLst/>
              <a:cxnLst/>
              <a:rect l="l" t="t" r="r" b="b"/>
              <a:pathLst>
                <a:path w="20472400" h="1360170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20245705" y="0"/>
                  </a:lnTo>
                  <a:cubicBezTo>
                    <a:pt x="20370927" y="0"/>
                    <a:pt x="20472400" y="101473"/>
                    <a:pt x="20472400" y="226695"/>
                  </a:cubicBezTo>
                  <a:lnTo>
                    <a:pt x="20472400" y="1133475"/>
                  </a:lnTo>
                  <a:cubicBezTo>
                    <a:pt x="20472400" y="1258697"/>
                    <a:pt x="20370927" y="1360170"/>
                    <a:pt x="20245705" y="1360170"/>
                  </a:cubicBezTo>
                  <a:lnTo>
                    <a:pt x="226695" y="1360170"/>
                  </a:lnTo>
                  <a:cubicBezTo>
                    <a:pt x="101473" y="1360170"/>
                    <a:pt x="0" y="1258697"/>
                    <a:pt x="0" y="1133475"/>
                  </a:cubicBezTo>
                  <a:close/>
                </a:path>
              </a:pathLst>
            </a:custGeom>
            <a:solidFill>
              <a:srgbClr val="0E938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20472400" cy="136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Peak Sun Hours                                                                                                                                                                                           5.5 Hours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47750" y="5992749"/>
            <a:ext cx="15354300" cy="880870"/>
            <a:chOff x="0" y="0"/>
            <a:chExt cx="20472400" cy="117449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472400" cy="1174493"/>
            </a:xfrm>
            <a:custGeom>
              <a:avLst/>
              <a:gdLst/>
              <a:ahLst/>
              <a:cxnLst/>
              <a:rect l="l" t="t" r="r" b="b"/>
              <a:pathLst>
                <a:path w="20472400" h="1174493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20276693" y="0"/>
                  </a:lnTo>
                  <a:cubicBezTo>
                    <a:pt x="20384770" y="0"/>
                    <a:pt x="20472400" y="87630"/>
                    <a:pt x="20472400" y="195707"/>
                  </a:cubicBezTo>
                  <a:lnTo>
                    <a:pt x="20472400" y="978787"/>
                  </a:lnTo>
                  <a:cubicBezTo>
                    <a:pt x="20472400" y="1086864"/>
                    <a:pt x="20384770" y="1174493"/>
                    <a:pt x="20276693" y="1174493"/>
                  </a:cubicBezTo>
                  <a:lnTo>
                    <a:pt x="195707" y="1174493"/>
                  </a:lnTo>
                  <a:cubicBezTo>
                    <a:pt x="87630" y="1174493"/>
                    <a:pt x="0" y="1086864"/>
                    <a:pt x="0" y="978787"/>
                  </a:cubicBezTo>
                  <a:close/>
                </a:path>
              </a:pathLst>
            </a:custGeom>
            <a:solidFill>
              <a:srgbClr val="0E938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0472400" cy="1184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Calculation Formula:</a:t>
              </a:r>
              <a:r>
                <a:rPr lang="en-US" sz="18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 [ 188.64 kWh ÷ 5.5 Hours ] ÷ 0.80 Efficiency Factor                                                           </a:t>
              </a:r>
              <a:r>
                <a:rPr lang="en-US" sz="18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42.87 kW ≈ 43.0 kW System</a:t>
              </a:r>
              <a:r>
                <a:rPr lang="en-US" sz="18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    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47750" y="7192261"/>
            <a:ext cx="15354300" cy="1085927"/>
            <a:chOff x="0" y="0"/>
            <a:chExt cx="20472400" cy="144790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472400" cy="1447801"/>
            </a:xfrm>
            <a:custGeom>
              <a:avLst/>
              <a:gdLst/>
              <a:ahLst/>
              <a:cxnLst/>
              <a:rect l="l" t="t" r="r" b="b"/>
              <a:pathLst>
                <a:path w="20472400" h="1447801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20231100" y="0"/>
                  </a:lnTo>
                  <a:cubicBezTo>
                    <a:pt x="20364323" y="0"/>
                    <a:pt x="20472400" y="108077"/>
                    <a:pt x="20472400" y="241300"/>
                  </a:cubicBezTo>
                  <a:lnTo>
                    <a:pt x="20472400" y="1206501"/>
                  </a:lnTo>
                  <a:cubicBezTo>
                    <a:pt x="20472400" y="1339724"/>
                    <a:pt x="20364323" y="1447801"/>
                    <a:pt x="20231100" y="1447801"/>
                  </a:cubicBezTo>
                  <a:lnTo>
                    <a:pt x="241300" y="1447801"/>
                  </a:lnTo>
                  <a:cubicBezTo>
                    <a:pt x="108077" y="1447801"/>
                    <a:pt x="0" y="1339724"/>
                    <a:pt x="0" y="1206501"/>
                  </a:cubicBezTo>
                  <a:close/>
                </a:path>
              </a:pathLst>
            </a:custGeom>
            <a:solidFill>
              <a:srgbClr val="0E938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20472400" cy="1457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Hardware Deployment:</a:t>
              </a:r>
              <a:r>
                <a:rPr lang="en-US" sz="18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 Standard 550W high-efficiency monocrystalline modules                                                                               </a:t>
              </a:r>
              <a:r>
                <a:rPr lang="en-US" sz="18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79 Solar Panels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28750" y="8486823"/>
            <a:ext cx="15133320" cy="28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Panels will be arranged in series-parallel strings on sturdy ground mounts with a 15-degree south-facing tilt to maximize year-round solar capture.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640" y="384048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481328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467041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2  ·  SIZE YOUR SOLAR SYSTEM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0080" y="2018767"/>
            <a:ext cx="17003268" cy="180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Q4.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Calculate the battery bank capacity needed for your chosen backup hours (using depth of discharge and efficiency), and specify roughly how many batteries and what type (lead-acid or lithium) you'd use, with reasoning.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1971" y="2959703"/>
            <a:ext cx="17219486" cy="6222587"/>
          </a:xfrm>
          <a:custGeom>
            <a:avLst/>
            <a:gdLst/>
            <a:ahLst/>
            <a:cxnLst/>
            <a:rect l="l" t="t" r="r" b="b"/>
            <a:pathLst>
              <a:path w="17219486" h="6222587">
                <a:moveTo>
                  <a:pt x="0" y="0"/>
                </a:moveTo>
                <a:lnTo>
                  <a:pt x="17219486" y="0"/>
                </a:lnTo>
                <a:lnTo>
                  <a:pt x="17219486" y="6222587"/>
                </a:lnTo>
                <a:lnTo>
                  <a:pt x="0" y="6222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548640" y="2976372"/>
            <a:ext cx="17186148" cy="6189250"/>
            <a:chOff x="0" y="0"/>
            <a:chExt cx="22914864" cy="825233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914863" cy="8252333"/>
            </a:xfrm>
            <a:custGeom>
              <a:avLst/>
              <a:gdLst/>
              <a:ahLst/>
              <a:cxnLst/>
              <a:rect l="l" t="t" r="r" b="b"/>
              <a:pathLst>
                <a:path w="22914863" h="8252333">
                  <a:moveTo>
                    <a:pt x="0" y="0"/>
                  </a:moveTo>
                  <a:lnTo>
                    <a:pt x="22914863" y="0"/>
                  </a:lnTo>
                  <a:lnTo>
                    <a:pt x="22914863" y="8252333"/>
                  </a:lnTo>
                  <a:lnTo>
                    <a:pt x="0" y="8252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67" b="-4067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457200" y="3277066"/>
            <a:ext cx="17186148" cy="6203547"/>
            <a:chOff x="0" y="0"/>
            <a:chExt cx="22914864" cy="82713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914865" cy="8271395"/>
            </a:xfrm>
            <a:custGeom>
              <a:avLst/>
              <a:gdLst/>
              <a:ahLst/>
              <a:cxnLst/>
              <a:rect l="l" t="t" r="r" b="b"/>
              <a:pathLst>
                <a:path w="22914865" h="8271395">
                  <a:moveTo>
                    <a:pt x="0" y="0"/>
                  </a:moveTo>
                  <a:lnTo>
                    <a:pt x="22914865" y="0"/>
                  </a:lnTo>
                  <a:lnTo>
                    <a:pt x="22914865" y="8271395"/>
                  </a:lnTo>
                  <a:lnTo>
                    <a:pt x="0" y="82713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980" b="-398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2914864" cy="82904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 dirty="0">
                  <a:solidFill>
                    <a:srgbClr val="AAAAA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Type your answer here…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5169857-6CC8-8599-5866-0D5A0CAFD26C}"/>
              </a:ext>
            </a:extLst>
          </p:cNvPr>
          <p:cNvSpPr txBox="1"/>
          <p:nvPr/>
        </p:nvSpPr>
        <p:spPr>
          <a:xfrm>
            <a:off x="803148" y="3256414"/>
            <a:ext cx="82296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        Lithium-Ion Energy Storage &amp; System Integration</a:t>
            </a:r>
          </a:p>
          <a:p>
            <a:pPr algn="l"/>
            <a:endParaRPr lang="en-US" b="1" dirty="0">
              <a:solidFill>
                <a:srgbClr val="1E293B"/>
              </a:solidFill>
              <a:latin typeface="Poppins" panose="00000500000000000000" pitchFamily="2" charset="0"/>
            </a:endParaRPr>
          </a:p>
          <a:p>
            <a:r>
              <a:rPr lang="en-US" b="1" i="0" dirty="0">
                <a:solidFill>
                  <a:srgbClr val="0F172A"/>
                </a:solidFill>
                <a:effectLst/>
                <a:latin typeface="Georgia" panose="02040502050405020303" pitchFamily="18" charset="0"/>
              </a:rPr>
              <a:t>                           Unit Architecture (8 × 50 kW)</a:t>
            </a:r>
          </a:p>
          <a:p>
            <a:pPr algn="l"/>
            <a:endParaRPr lang="en-US" b="1" dirty="0">
              <a:solidFill>
                <a:srgbClr val="1E293B"/>
              </a:solidFill>
              <a:latin typeface="Poppins" panose="00000500000000000000" pitchFamily="2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Individual Unit Capacity                                                 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50 kW / 100 kWh</a:t>
            </a:r>
            <a:endParaRPr lang="en-US" b="1" i="0" dirty="0">
              <a:solidFill>
                <a:srgbClr val="1E293B"/>
              </a:solidFill>
              <a:effectLst/>
              <a:latin typeface="Poppins" panose="00000500000000000000" pitchFamily="2" charset="0"/>
            </a:endParaRPr>
          </a:p>
          <a:p>
            <a:pPr algn="l"/>
            <a:endParaRPr lang="en-US" b="1" dirty="0">
              <a:solidFill>
                <a:srgbClr val="1E293B"/>
              </a:solidFill>
              <a:latin typeface="Poppins" panose="00000500000000000000" pitchFamily="2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Total Array Units                                                                 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8 Modular Racks</a:t>
            </a:r>
          </a:p>
          <a:p>
            <a:pPr algn="l"/>
            <a:endParaRPr lang="en-US" b="1" i="0" dirty="0">
              <a:solidFill>
                <a:srgbClr val="0F172A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Aggregate Power Output                                                          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400 kW Peak</a:t>
            </a:r>
          </a:p>
          <a:p>
            <a:pPr algn="l"/>
            <a:endParaRPr lang="en-US" b="1" dirty="0">
              <a:solidFill>
                <a:srgbClr val="0F172A"/>
              </a:solidFill>
              <a:latin typeface="Lato" panose="020F0502020204030203" pitchFamily="34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Aggregate Energy Storage                                                     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800 kWh Total</a:t>
            </a:r>
          </a:p>
          <a:p>
            <a:pPr algn="l"/>
            <a:endParaRPr lang="en-US" b="1" dirty="0">
              <a:solidFill>
                <a:srgbClr val="0F172A"/>
              </a:solidFill>
              <a:latin typeface="Lato" panose="020F0502020204030203" pitchFamily="34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Chemistry Type                                  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LiFePO4 (Lithium Iron Phosphate)</a:t>
            </a:r>
            <a:endParaRPr lang="en-US" b="1" dirty="0">
              <a:solidFill>
                <a:srgbClr val="0F172A"/>
              </a:solidFill>
              <a:latin typeface="Lato" panose="020F050202020403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B0B4D4-AE9F-4792-D55E-F829C4797433}"/>
              </a:ext>
            </a:extLst>
          </p:cNvPr>
          <p:cNvSpPr txBox="1"/>
          <p:nvPr/>
        </p:nvSpPr>
        <p:spPr>
          <a:xfrm>
            <a:off x="10515600" y="3838994"/>
            <a:ext cx="6629400" cy="338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752BAE-3575-5BE6-72B8-8724FF503600}"/>
              </a:ext>
            </a:extLst>
          </p:cNvPr>
          <p:cNvSpPr txBox="1"/>
          <p:nvPr/>
        </p:nvSpPr>
        <p:spPr>
          <a:xfrm>
            <a:off x="10458291" y="3554957"/>
            <a:ext cx="62484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br>
              <a:rPr lang="en-US" b="1" i="0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</a:br>
            <a:r>
              <a:rPr lang="en-US" b="1" i="0" dirty="0">
                <a:solidFill>
                  <a:srgbClr val="0F172A"/>
                </a:solidFill>
                <a:effectLst/>
                <a:latin typeface="Georgia" panose="02040502050405020303" pitchFamily="18" charset="0"/>
              </a:rPr>
              <a:t>Performance &amp; Efficiency</a:t>
            </a:r>
          </a:p>
          <a:p>
            <a:pPr algn="l"/>
            <a:endParaRPr lang="en-US" b="1" dirty="0">
              <a:solidFill>
                <a:srgbClr val="0F172A"/>
              </a:solidFill>
              <a:latin typeface="Poppins" panose="00000500000000000000" pitchFamily="2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Round-Trip Efficiency </a:t>
            </a:r>
            <a:r>
              <a:rPr lang="en-US" b="0" i="0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              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&gt; 92%</a:t>
            </a:r>
          </a:p>
          <a:p>
            <a:pPr algn="l"/>
            <a:endParaRPr lang="en-US" b="1" dirty="0">
              <a:solidFill>
                <a:srgbClr val="0F172A"/>
              </a:solidFill>
              <a:latin typeface="Lato" panose="020F0502020204030203" pitchFamily="34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Design Lifespan / Cycles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6,000+ Cycles (80% DoD)</a:t>
            </a:r>
          </a:p>
          <a:p>
            <a:pPr algn="l"/>
            <a:endParaRPr lang="en-US" b="1" dirty="0">
              <a:solidFill>
                <a:srgbClr val="0F172A"/>
              </a:solidFill>
              <a:latin typeface="Lato" panose="020F0502020204030203" pitchFamily="34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Response Time                              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&lt; 20 milliseconds</a:t>
            </a:r>
          </a:p>
          <a:p>
            <a:pPr algn="l"/>
            <a:endParaRPr lang="en-US" b="1" dirty="0">
              <a:solidFill>
                <a:srgbClr val="0F172A"/>
              </a:solidFill>
              <a:latin typeface="Lato" panose="020F0502020204030203" pitchFamily="34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Thermal Management      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Active Smart Liquid Cooling</a:t>
            </a:r>
          </a:p>
          <a:p>
            <a:pPr algn="l"/>
            <a:endParaRPr lang="en-US" b="1" dirty="0">
              <a:solidFill>
                <a:srgbClr val="0F172A"/>
              </a:solidFill>
              <a:latin typeface="Lato" panose="020F0502020204030203" pitchFamily="34" charset="0"/>
            </a:endParaRPr>
          </a:p>
          <a:p>
            <a:pPr algn="l"/>
            <a:r>
              <a:rPr lang="en-US" b="0" i="0" dirty="0">
                <a:effectLst/>
                <a:latin typeface="Georgia" panose="02040502050405020303" pitchFamily="18" charset="0"/>
              </a:rPr>
              <a:t>Safety Protection           </a:t>
            </a:r>
            <a:r>
              <a:rPr lang="en-US" b="1" i="0" dirty="0">
                <a:solidFill>
                  <a:srgbClr val="0F172A"/>
                </a:solidFill>
                <a:effectLst/>
                <a:latin typeface="Lato" panose="020F0502020204030203" pitchFamily="34" charset="0"/>
              </a:rPr>
              <a:t>Integrated BMS &amp; Aerosol Fire Sup.</a:t>
            </a:r>
            <a:endParaRPr lang="en-US" b="1" i="0" dirty="0">
              <a:solidFill>
                <a:srgbClr val="0F172A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09EAD9C-4C78-BE62-EE0E-E7AB60E7BA82}"/>
              </a:ext>
            </a:extLst>
          </p:cNvPr>
          <p:cNvSpPr/>
          <p:nvPr/>
        </p:nvSpPr>
        <p:spPr>
          <a:xfrm>
            <a:off x="885539" y="7586918"/>
            <a:ext cx="16459200" cy="14739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b="1" i="0" cap="all" dirty="0">
              <a:solidFill>
                <a:srgbClr val="A7F3D0"/>
              </a:solidFill>
              <a:effectLst/>
              <a:latin typeface="Lato" panose="020F0502020204030203" pitchFamily="34" charset="0"/>
            </a:endParaRPr>
          </a:p>
          <a:p>
            <a:r>
              <a:rPr lang="en-US" b="1" i="0" cap="all" dirty="0">
                <a:solidFill>
                  <a:srgbClr val="A7F3D0"/>
                </a:solidFill>
                <a:effectLst/>
                <a:latin typeface="Lato" panose="020F0502020204030203" pitchFamily="34" charset="0"/>
              </a:rPr>
              <a:t>Primary Design Advantage                                                                                                    </a:t>
            </a:r>
            <a:r>
              <a:rPr lang="en-US" sz="2400" b="1" i="0" cap="all" dirty="0">
                <a:solidFill>
                  <a:srgbClr val="A7F3D0"/>
                </a:solidFill>
                <a:effectLst/>
                <a:latin typeface="Lato" panose="020F0502020204030203" pitchFamily="34" charset="0"/>
              </a:rPr>
              <a:t>Total Installed Capacity</a:t>
            </a:r>
            <a:r>
              <a:rPr lang="en-US" sz="2400" b="1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400 kW / 800 kWh</a:t>
            </a:r>
            <a:endParaRPr lang="en-US" sz="2400" b="1" i="0" cap="all" dirty="0">
              <a:solidFill>
                <a:srgbClr val="A7F3D0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en-US" sz="2000" b="1" i="0" dirty="0">
                <a:solidFill>
                  <a:srgbClr val="FEF08A"/>
                </a:solidFill>
                <a:effectLst/>
                <a:latin typeface="Lato" panose="020F0502020204030203" pitchFamily="34" charset="0"/>
              </a:rPr>
              <a:t>Modular redundancy ensures zero single-point failure across community microgrid loops.</a:t>
            </a:r>
            <a:endParaRPr lang="en-US" sz="2000" b="0" i="0" dirty="0">
              <a:solidFill>
                <a:srgbClr val="FFFFFF"/>
              </a:solidFill>
              <a:effectLst/>
              <a:latin typeface="Lato" panose="020F0502020204030203" pitchFamily="34" charset="0"/>
            </a:endParaRP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640" y="384048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481328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467041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3  ·  DESIGN THE SYSTEM &amp; COSTS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0080" y="2057400"/>
            <a:ext cx="17003268" cy="180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Q5.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Design your distribution network: where would the central power house sit, how would main lines and household connections be laid out, and what safety devices (MCBs, earthing) are needed? Sketch or describe your layout.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1971" y="2781700"/>
            <a:ext cx="17219486" cy="6728279"/>
          </a:xfrm>
          <a:custGeom>
            <a:avLst/>
            <a:gdLst/>
            <a:ahLst/>
            <a:cxnLst/>
            <a:rect l="l" t="t" r="r" b="b"/>
            <a:pathLst>
              <a:path w="17219486" h="6728279">
                <a:moveTo>
                  <a:pt x="0" y="0"/>
                </a:moveTo>
                <a:lnTo>
                  <a:pt x="17219486" y="0"/>
                </a:lnTo>
                <a:lnTo>
                  <a:pt x="17219486" y="6728279"/>
                </a:lnTo>
                <a:lnTo>
                  <a:pt x="0" y="6728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548640" y="4594860"/>
            <a:ext cx="17186148" cy="548640"/>
            <a:chOff x="0" y="0"/>
            <a:chExt cx="22914864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914863" cy="731520"/>
            </a:xfrm>
            <a:custGeom>
              <a:avLst/>
              <a:gdLst/>
              <a:ahLst/>
              <a:cxnLst/>
              <a:rect l="l" t="t" r="r" b="b"/>
              <a:pathLst>
                <a:path w="22914863" h="731520">
                  <a:moveTo>
                    <a:pt x="0" y="0"/>
                  </a:moveTo>
                  <a:lnTo>
                    <a:pt x="22914863" y="0"/>
                  </a:lnTo>
                  <a:lnTo>
                    <a:pt x="2291486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9944" b="-559944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548640" y="4580572"/>
            <a:ext cx="17186148" cy="562928"/>
            <a:chOff x="0" y="0"/>
            <a:chExt cx="22914864" cy="7505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914865" cy="750570"/>
            </a:xfrm>
            <a:custGeom>
              <a:avLst/>
              <a:gdLst/>
              <a:ahLst/>
              <a:cxnLst/>
              <a:rect l="l" t="t" r="r" b="b"/>
              <a:pathLst>
                <a:path w="22914865" h="750570">
                  <a:moveTo>
                    <a:pt x="0" y="0"/>
                  </a:moveTo>
                  <a:lnTo>
                    <a:pt x="22914865" y="0"/>
                  </a:lnTo>
                  <a:lnTo>
                    <a:pt x="22914865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44877" b="-54487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2914864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999999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Insert your sketch here - In PowerPoint: Insert → Pictures</a:t>
              </a: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CFE72718-4726-97A6-C339-49006669BE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6" y="2781698"/>
            <a:ext cx="17429843" cy="6742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640" y="384048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481328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467041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3  ·  DESIGN THE SYSTEM &amp; COSTS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0080" y="2249272"/>
            <a:ext cx="17003268" cy="180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Q6.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Research and explain your cost breakdown (panels, batteries, inverter, wiring, installation) to reach a total capital cost. Then calculate the government subsidy amount and the per-household contribution needed.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1971" y="3604203"/>
            <a:ext cx="17219486" cy="6013609"/>
          </a:xfrm>
          <a:custGeom>
            <a:avLst/>
            <a:gdLst/>
            <a:ahLst/>
            <a:cxnLst/>
            <a:rect l="l" t="t" r="r" b="b"/>
            <a:pathLst>
              <a:path w="17219486" h="6013609">
                <a:moveTo>
                  <a:pt x="0" y="0"/>
                </a:moveTo>
                <a:lnTo>
                  <a:pt x="17219486" y="0"/>
                </a:lnTo>
                <a:lnTo>
                  <a:pt x="17219486" y="6013609"/>
                </a:lnTo>
                <a:lnTo>
                  <a:pt x="0" y="6013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548640" y="3620872"/>
            <a:ext cx="16980408" cy="5980328"/>
            <a:chOff x="0" y="0"/>
            <a:chExt cx="22640544" cy="79737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640544" cy="7973822"/>
            </a:xfrm>
            <a:custGeom>
              <a:avLst/>
              <a:gdLst/>
              <a:ahLst/>
              <a:cxnLst/>
              <a:rect l="l" t="t" r="r" b="b"/>
              <a:pathLst>
                <a:path w="22640544" h="7973822">
                  <a:moveTo>
                    <a:pt x="0" y="0"/>
                  </a:moveTo>
                  <a:lnTo>
                    <a:pt x="22640544" y="0"/>
                  </a:lnTo>
                  <a:lnTo>
                    <a:pt x="22640544" y="7973822"/>
                  </a:lnTo>
                  <a:lnTo>
                    <a:pt x="0" y="79738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86" b="-5286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531971" y="3604203"/>
            <a:ext cx="17161669" cy="5996997"/>
            <a:chOff x="0" y="0"/>
            <a:chExt cx="22882225" cy="79959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882225" cy="7995996"/>
            </a:xfrm>
            <a:custGeom>
              <a:avLst/>
              <a:gdLst/>
              <a:ahLst/>
              <a:cxnLst/>
              <a:rect l="l" t="t" r="r" b="b"/>
              <a:pathLst>
                <a:path w="22882225" h="7995996">
                  <a:moveTo>
                    <a:pt x="0" y="0"/>
                  </a:moveTo>
                  <a:lnTo>
                    <a:pt x="22882225" y="0"/>
                  </a:lnTo>
                  <a:lnTo>
                    <a:pt x="22882225" y="7995996"/>
                  </a:lnTo>
                  <a:lnTo>
                    <a:pt x="0" y="79959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91" r="1056" b="-515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2882225" cy="8015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AAAAA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Type your answer here…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40080" y="3665560"/>
            <a:ext cx="8925808" cy="594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Capital Cost Components </a:t>
            </a:r>
          </a:p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Solar Panels &amp; Generation: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377.25 </a:t>
            </a:r>
            <a:r>
              <a:rPr lang="en-US" sz="1599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kwp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array (755 panels of 500W each)      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₹1,32,03,750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       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mounting structures &amp; DC wiring.         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endParaRPr lang="en-US" sz="1599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Battery Energy Storage (BESS):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Lithium-ion containerized bank for              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₹25,00,000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                           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night &amp; blackout backup.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Inverters &amp; Control (MGCC):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Microgrid Central Controller and                          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₹8,00,000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power conversion units.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</a:t>
            </a:r>
          </a:p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Wiring &amp; Distribution: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Armoured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backbone cables, utility poles,                         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₹12,00,000  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and string lines.     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endParaRPr lang="en-US" sz="1599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Safety &amp; Protection Gear: 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Master MCCBs, fuse cut-outs, surge protection,         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₹4,50,000   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lightning arresters.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endParaRPr lang="en-US" sz="1599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Household Metering (480 Homes):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Smart prepaid meters, MCBs,                 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₹12,00,000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ELCBs, and drop lines.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2239"/>
              </a:lnSpc>
            </a:pPr>
            <a:endParaRPr lang="en-US" sz="1599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Earthing &amp; Grounding: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Power house earth pits, pole earth rods,                                     </a:t>
            </a:r>
            <a:r>
              <a:rPr lang="en-US" sz="1599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₹3,00,000</a:t>
            </a: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 </a:t>
            </a:r>
          </a:p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household electrodes.                                                                                                                                                 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727553" y="4025330"/>
            <a:ext cx="6581031" cy="822381"/>
            <a:chOff x="0" y="0"/>
            <a:chExt cx="1733276" cy="21659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33276" cy="216594"/>
            </a:xfrm>
            <a:custGeom>
              <a:avLst/>
              <a:gdLst/>
              <a:ahLst/>
              <a:cxnLst/>
              <a:rect l="l" t="t" r="r" b="b"/>
              <a:pathLst>
                <a:path w="1733276" h="216594">
                  <a:moveTo>
                    <a:pt x="19999" y="0"/>
                  </a:moveTo>
                  <a:lnTo>
                    <a:pt x="1713277" y="0"/>
                  </a:lnTo>
                  <a:cubicBezTo>
                    <a:pt x="1724322" y="0"/>
                    <a:pt x="1733276" y="8954"/>
                    <a:pt x="1733276" y="19999"/>
                  </a:cubicBezTo>
                  <a:lnTo>
                    <a:pt x="1733276" y="196595"/>
                  </a:lnTo>
                  <a:cubicBezTo>
                    <a:pt x="1733276" y="201899"/>
                    <a:pt x="1731169" y="206986"/>
                    <a:pt x="1727418" y="210737"/>
                  </a:cubicBezTo>
                  <a:cubicBezTo>
                    <a:pt x="1723668" y="214487"/>
                    <a:pt x="1718581" y="216594"/>
                    <a:pt x="1713277" y="216594"/>
                  </a:cubicBezTo>
                  <a:lnTo>
                    <a:pt x="19999" y="216594"/>
                  </a:lnTo>
                  <a:cubicBezTo>
                    <a:pt x="14695" y="216594"/>
                    <a:pt x="9608" y="214487"/>
                    <a:pt x="5858" y="210737"/>
                  </a:cubicBezTo>
                  <a:cubicBezTo>
                    <a:pt x="2107" y="206986"/>
                    <a:pt x="0" y="201899"/>
                    <a:pt x="0" y="196595"/>
                  </a:cubicBezTo>
                  <a:lnTo>
                    <a:pt x="0" y="19999"/>
                  </a:lnTo>
                  <a:cubicBezTo>
                    <a:pt x="0" y="14695"/>
                    <a:pt x="2107" y="9608"/>
                    <a:pt x="5858" y="5858"/>
                  </a:cubicBezTo>
                  <a:cubicBezTo>
                    <a:pt x="9608" y="2107"/>
                    <a:pt x="14695" y="0"/>
                    <a:pt x="19999" y="0"/>
                  </a:cubicBezTo>
                  <a:close/>
                </a:path>
              </a:pathLst>
            </a:custGeom>
            <a:solidFill>
              <a:srgbClr val="0E938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733276" cy="226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40"/>
                </a:lnSpc>
              </a:pPr>
              <a:r>
                <a:rPr lang="en-US" sz="1450" spc="13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TOTAL GROSS CAPITAL COST</a:t>
              </a:r>
            </a:p>
            <a:p>
              <a:pPr algn="ctr">
                <a:lnSpc>
                  <a:spcPts val="1740"/>
                </a:lnSpc>
              </a:pPr>
              <a:r>
                <a:rPr lang="en-US" sz="1450" b="1" spc="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₹1,94,53,750 (~₹1.95 Crores</a:t>
              </a:r>
              <a:r>
                <a:rPr lang="en-US" sz="1450" spc="13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</a:p>
            <a:p>
              <a:pPr algn="ctr">
                <a:lnSpc>
                  <a:spcPts val="1740"/>
                </a:lnSpc>
              </a:pPr>
              <a:endParaRPr lang="en-US" sz="1450" spc="13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27553" y="5047736"/>
            <a:ext cx="6581031" cy="650990"/>
            <a:chOff x="0" y="0"/>
            <a:chExt cx="1733276" cy="17145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733276" cy="171454"/>
            </a:xfrm>
            <a:custGeom>
              <a:avLst/>
              <a:gdLst/>
              <a:ahLst/>
              <a:cxnLst/>
              <a:rect l="l" t="t" r="r" b="b"/>
              <a:pathLst>
                <a:path w="1733276" h="171454">
                  <a:moveTo>
                    <a:pt x="19999" y="0"/>
                  </a:moveTo>
                  <a:lnTo>
                    <a:pt x="1713277" y="0"/>
                  </a:lnTo>
                  <a:cubicBezTo>
                    <a:pt x="1724322" y="0"/>
                    <a:pt x="1733276" y="8954"/>
                    <a:pt x="1733276" y="19999"/>
                  </a:cubicBezTo>
                  <a:lnTo>
                    <a:pt x="1733276" y="151455"/>
                  </a:lnTo>
                  <a:cubicBezTo>
                    <a:pt x="1733276" y="156759"/>
                    <a:pt x="1731169" y="161846"/>
                    <a:pt x="1727418" y="165597"/>
                  </a:cubicBezTo>
                  <a:cubicBezTo>
                    <a:pt x="1723668" y="169347"/>
                    <a:pt x="1718581" y="171454"/>
                    <a:pt x="1713277" y="171454"/>
                  </a:cubicBezTo>
                  <a:lnTo>
                    <a:pt x="19999" y="171454"/>
                  </a:lnTo>
                  <a:cubicBezTo>
                    <a:pt x="14695" y="171454"/>
                    <a:pt x="9608" y="169347"/>
                    <a:pt x="5858" y="165597"/>
                  </a:cubicBezTo>
                  <a:cubicBezTo>
                    <a:pt x="2107" y="161846"/>
                    <a:pt x="0" y="156759"/>
                    <a:pt x="0" y="151455"/>
                  </a:cubicBezTo>
                  <a:lnTo>
                    <a:pt x="0" y="19999"/>
                  </a:lnTo>
                  <a:cubicBezTo>
                    <a:pt x="0" y="14695"/>
                    <a:pt x="2107" y="9608"/>
                    <a:pt x="5858" y="5858"/>
                  </a:cubicBezTo>
                  <a:cubicBezTo>
                    <a:pt x="9608" y="2107"/>
                    <a:pt x="14695" y="0"/>
                    <a:pt x="19999" y="0"/>
                  </a:cubicBezTo>
                  <a:close/>
                </a:path>
              </a:pathLst>
            </a:custGeom>
            <a:solidFill>
              <a:srgbClr val="0E9384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1733276" cy="18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40"/>
                </a:lnSpc>
              </a:pPr>
              <a:r>
                <a:rPr lang="en-US" sz="1450" spc="13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GOVERNMENT SUBSIDY (PM-KUSUM / RURAL SCHEMES)</a:t>
              </a:r>
            </a:p>
            <a:p>
              <a:pPr algn="ctr">
                <a:lnSpc>
                  <a:spcPts val="1740"/>
                </a:lnSpc>
              </a:pPr>
              <a:r>
                <a:rPr lang="en-US" sz="1450" b="1" spc="13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60% on Solar (₹1,32,03,750) = ₹79,22,250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27553" y="5917801"/>
            <a:ext cx="6581031" cy="828755"/>
            <a:chOff x="0" y="0"/>
            <a:chExt cx="1733276" cy="21827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33276" cy="218273"/>
            </a:xfrm>
            <a:custGeom>
              <a:avLst/>
              <a:gdLst/>
              <a:ahLst/>
              <a:cxnLst/>
              <a:rect l="l" t="t" r="r" b="b"/>
              <a:pathLst>
                <a:path w="1733276" h="218273">
                  <a:moveTo>
                    <a:pt x="19999" y="0"/>
                  </a:moveTo>
                  <a:lnTo>
                    <a:pt x="1713277" y="0"/>
                  </a:lnTo>
                  <a:cubicBezTo>
                    <a:pt x="1724322" y="0"/>
                    <a:pt x="1733276" y="8954"/>
                    <a:pt x="1733276" y="19999"/>
                  </a:cubicBezTo>
                  <a:lnTo>
                    <a:pt x="1733276" y="198274"/>
                  </a:lnTo>
                  <a:cubicBezTo>
                    <a:pt x="1733276" y="203578"/>
                    <a:pt x="1731169" y="208665"/>
                    <a:pt x="1727418" y="212415"/>
                  </a:cubicBezTo>
                  <a:cubicBezTo>
                    <a:pt x="1723668" y="216166"/>
                    <a:pt x="1718581" y="218273"/>
                    <a:pt x="1713277" y="218273"/>
                  </a:cubicBezTo>
                  <a:lnTo>
                    <a:pt x="19999" y="218273"/>
                  </a:lnTo>
                  <a:cubicBezTo>
                    <a:pt x="14695" y="218273"/>
                    <a:pt x="9608" y="216166"/>
                    <a:pt x="5858" y="212415"/>
                  </a:cubicBezTo>
                  <a:cubicBezTo>
                    <a:pt x="2107" y="208665"/>
                    <a:pt x="0" y="203578"/>
                    <a:pt x="0" y="198274"/>
                  </a:cubicBezTo>
                  <a:lnTo>
                    <a:pt x="0" y="19999"/>
                  </a:lnTo>
                  <a:cubicBezTo>
                    <a:pt x="0" y="14695"/>
                    <a:pt x="2107" y="9608"/>
                    <a:pt x="5858" y="5858"/>
                  </a:cubicBezTo>
                  <a:cubicBezTo>
                    <a:pt x="9608" y="2107"/>
                    <a:pt x="14695" y="0"/>
                    <a:pt x="19999" y="0"/>
                  </a:cubicBezTo>
                  <a:close/>
                </a:path>
              </a:pathLst>
            </a:custGeom>
            <a:solidFill>
              <a:srgbClr val="0E9384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733276" cy="227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40"/>
                </a:lnSpc>
              </a:pPr>
              <a:r>
                <a:rPr lang="en-US" sz="1450" spc="13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Remaining Net Project Balance</a:t>
              </a:r>
            </a:p>
            <a:p>
              <a:pPr algn="ctr">
                <a:lnSpc>
                  <a:spcPts val="1740"/>
                </a:lnSpc>
              </a:pPr>
              <a:r>
                <a:rPr lang="en-US" sz="1450" b="1" spc="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₹1,94,53,750 - ₹79,22,250 = ₹1,15,31,500 (~₹1.15 Crores)</a:t>
              </a:r>
            </a:p>
            <a:p>
              <a:pPr algn="ctr">
                <a:lnSpc>
                  <a:spcPts val="1740"/>
                </a:lnSpc>
              </a:pPr>
              <a:endParaRPr lang="en-US" sz="1450" b="1" spc="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27553" y="6946581"/>
            <a:ext cx="6581031" cy="1032077"/>
            <a:chOff x="0" y="0"/>
            <a:chExt cx="1733276" cy="27182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33276" cy="271823"/>
            </a:xfrm>
            <a:custGeom>
              <a:avLst/>
              <a:gdLst/>
              <a:ahLst/>
              <a:cxnLst/>
              <a:rect l="l" t="t" r="r" b="b"/>
              <a:pathLst>
                <a:path w="1733276" h="271823">
                  <a:moveTo>
                    <a:pt x="19999" y="0"/>
                  </a:moveTo>
                  <a:lnTo>
                    <a:pt x="1713277" y="0"/>
                  </a:lnTo>
                  <a:cubicBezTo>
                    <a:pt x="1724322" y="0"/>
                    <a:pt x="1733276" y="8954"/>
                    <a:pt x="1733276" y="19999"/>
                  </a:cubicBezTo>
                  <a:lnTo>
                    <a:pt x="1733276" y="251824"/>
                  </a:lnTo>
                  <a:cubicBezTo>
                    <a:pt x="1733276" y="257128"/>
                    <a:pt x="1731169" y="262215"/>
                    <a:pt x="1727418" y="265965"/>
                  </a:cubicBezTo>
                  <a:cubicBezTo>
                    <a:pt x="1723668" y="269716"/>
                    <a:pt x="1718581" y="271823"/>
                    <a:pt x="1713277" y="271823"/>
                  </a:cubicBezTo>
                  <a:lnTo>
                    <a:pt x="19999" y="271823"/>
                  </a:lnTo>
                  <a:cubicBezTo>
                    <a:pt x="14695" y="271823"/>
                    <a:pt x="9608" y="269716"/>
                    <a:pt x="5858" y="265965"/>
                  </a:cubicBezTo>
                  <a:cubicBezTo>
                    <a:pt x="2107" y="262215"/>
                    <a:pt x="0" y="257128"/>
                    <a:pt x="0" y="251824"/>
                  </a:cubicBezTo>
                  <a:lnTo>
                    <a:pt x="0" y="19999"/>
                  </a:lnTo>
                  <a:cubicBezTo>
                    <a:pt x="0" y="14695"/>
                    <a:pt x="2107" y="9608"/>
                    <a:pt x="5858" y="5858"/>
                  </a:cubicBezTo>
                  <a:cubicBezTo>
                    <a:pt x="9608" y="2107"/>
                    <a:pt x="14695" y="0"/>
                    <a:pt x="19999" y="0"/>
                  </a:cubicBezTo>
                  <a:close/>
                </a:path>
              </a:pathLst>
            </a:custGeom>
            <a:solidFill>
              <a:srgbClr val="0E9384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33276" cy="28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40"/>
                </a:lnSpc>
              </a:pPr>
              <a:r>
                <a:rPr lang="en-US" sz="1450" spc="13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CSR Grants &amp; Community Share</a:t>
              </a:r>
            </a:p>
            <a:p>
              <a:pPr algn="ctr">
                <a:lnSpc>
                  <a:spcPts val="1740"/>
                </a:lnSpc>
              </a:pPr>
              <a:r>
                <a:rPr lang="en-US" sz="1450" b="1" spc="13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CSR/State Grants cover 85% (~₹1,00,31,500), bringing final net community share to ₹15,00,000</a:t>
              </a:r>
            </a:p>
            <a:p>
              <a:pPr algn="ctr">
                <a:lnSpc>
                  <a:spcPts val="1740"/>
                </a:lnSpc>
              </a:pPr>
              <a:endParaRPr lang="en-US" sz="1450" b="1" spc="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27553" y="8321558"/>
            <a:ext cx="7966087" cy="1157353"/>
            <a:chOff x="0" y="0"/>
            <a:chExt cx="2098064" cy="30481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98064" cy="304817"/>
            </a:xfrm>
            <a:custGeom>
              <a:avLst/>
              <a:gdLst/>
              <a:ahLst/>
              <a:cxnLst/>
              <a:rect l="l" t="t" r="r" b="b"/>
              <a:pathLst>
                <a:path w="2098064" h="304817">
                  <a:moveTo>
                    <a:pt x="16522" y="0"/>
                  </a:moveTo>
                  <a:lnTo>
                    <a:pt x="2081543" y="0"/>
                  </a:lnTo>
                  <a:cubicBezTo>
                    <a:pt x="2085924" y="0"/>
                    <a:pt x="2090127" y="1741"/>
                    <a:pt x="2093225" y="4839"/>
                  </a:cubicBezTo>
                  <a:cubicBezTo>
                    <a:pt x="2096324" y="7937"/>
                    <a:pt x="2098064" y="12140"/>
                    <a:pt x="2098064" y="16522"/>
                  </a:cubicBezTo>
                  <a:lnTo>
                    <a:pt x="2098064" y="288296"/>
                  </a:lnTo>
                  <a:cubicBezTo>
                    <a:pt x="2098064" y="292677"/>
                    <a:pt x="2096324" y="296880"/>
                    <a:pt x="2093225" y="299978"/>
                  </a:cubicBezTo>
                  <a:cubicBezTo>
                    <a:pt x="2090127" y="303076"/>
                    <a:pt x="2085924" y="304817"/>
                    <a:pt x="2081543" y="304817"/>
                  </a:cubicBezTo>
                  <a:lnTo>
                    <a:pt x="16522" y="304817"/>
                  </a:lnTo>
                  <a:cubicBezTo>
                    <a:pt x="12140" y="304817"/>
                    <a:pt x="7937" y="303076"/>
                    <a:pt x="4839" y="299978"/>
                  </a:cubicBezTo>
                  <a:cubicBezTo>
                    <a:pt x="1741" y="296880"/>
                    <a:pt x="0" y="292677"/>
                    <a:pt x="0" y="288296"/>
                  </a:cubicBezTo>
                  <a:lnTo>
                    <a:pt x="0" y="16522"/>
                  </a:lnTo>
                  <a:cubicBezTo>
                    <a:pt x="0" y="12140"/>
                    <a:pt x="1741" y="7937"/>
                    <a:pt x="4839" y="4839"/>
                  </a:cubicBezTo>
                  <a:cubicBezTo>
                    <a:pt x="7937" y="1741"/>
                    <a:pt x="12140" y="0"/>
                    <a:pt x="16522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2098064" cy="32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 spc="148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Total Households480 Homes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1" spc="148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Total Community Contribution₹15,00,000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1" spc="148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Per-Household Connection Security Deposit₹3,125 / household</a:t>
              </a:r>
            </a:p>
            <a:p>
              <a:pPr algn="ctr">
                <a:lnSpc>
                  <a:spcPts val="1980"/>
                </a:lnSpc>
              </a:pPr>
              <a:endParaRPr lang="en-US" sz="1650" b="1" spc="148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640" y="384048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481328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467041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4  ·  DESIGN THE GOVERNANCE MODEL &amp; PITCH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0080" y="2057400"/>
            <a:ext cx="17003268" cy="180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Q7.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your Village Electricity Committee: who's on it, how are they chosen, and how will payments, maintenance, and conflicts be handled?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1971" y="2808827"/>
            <a:ext cx="17219486" cy="6766655"/>
          </a:xfrm>
          <a:custGeom>
            <a:avLst/>
            <a:gdLst/>
            <a:ahLst/>
            <a:cxnLst/>
            <a:rect l="l" t="t" r="r" b="b"/>
            <a:pathLst>
              <a:path w="17219486" h="6766655">
                <a:moveTo>
                  <a:pt x="0" y="0"/>
                </a:moveTo>
                <a:lnTo>
                  <a:pt x="17219486" y="0"/>
                </a:lnTo>
                <a:lnTo>
                  <a:pt x="17219486" y="6766655"/>
                </a:lnTo>
                <a:lnTo>
                  <a:pt x="0" y="6766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-464106" y="1553728"/>
            <a:ext cx="19431000" cy="7443797"/>
            <a:chOff x="0" y="0"/>
            <a:chExt cx="25908000" cy="992506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908000" cy="9925050"/>
            </a:xfrm>
            <a:custGeom>
              <a:avLst/>
              <a:gdLst/>
              <a:ahLst/>
              <a:cxnLst/>
              <a:rect l="l" t="t" r="r" b="b"/>
              <a:pathLst>
                <a:path w="25908000" h="9925050">
                  <a:moveTo>
                    <a:pt x="0" y="0"/>
                  </a:moveTo>
                  <a:lnTo>
                    <a:pt x="25908000" y="0"/>
                  </a:lnTo>
                  <a:lnTo>
                    <a:pt x="25908000" y="9925050"/>
                  </a:lnTo>
                  <a:lnTo>
                    <a:pt x="0" y="9925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7" b="-827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-464106" y="1537926"/>
            <a:ext cx="19431000" cy="7459589"/>
            <a:chOff x="0" y="0"/>
            <a:chExt cx="25908000" cy="99461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908000" cy="9946124"/>
            </a:xfrm>
            <a:custGeom>
              <a:avLst/>
              <a:gdLst/>
              <a:ahLst/>
              <a:cxnLst/>
              <a:rect l="l" t="t" r="r" b="b"/>
              <a:pathLst>
                <a:path w="25908000" h="9946124">
                  <a:moveTo>
                    <a:pt x="0" y="0"/>
                  </a:moveTo>
                  <a:lnTo>
                    <a:pt x="25908000" y="0"/>
                  </a:lnTo>
                  <a:lnTo>
                    <a:pt x="25908000" y="9946124"/>
                  </a:lnTo>
                  <a:lnTo>
                    <a:pt x="0" y="99461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55" b="-75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5908000" cy="9965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AAAAA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Type your answer here…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67373" y="3747726"/>
            <a:ext cx="5293871" cy="4549712"/>
            <a:chOff x="0" y="0"/>
            <a:chExt cx="7058495" cy="60662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58533" cy="6066282"/>
            </a:xfrm>
            <a:custGeom>
              <a:avLst/>
              <a:gdLst/>
              <a:ahLst/>
              <a:cxnLst/>
              <a:rect l="l" t="t" r="r" b="b"/>
              <a:pathLst>
                <a:path w="7058533" h="6066282">
                  <a:moveTo>
                    <a:pt x="0" y="0"/>
                  </a:moveTo>
                  <a:lnTo>
                    <a:pt x="7058533" y="0"/>
                  </a:lnTo>
                  <a:lnTo>
                    <a:pt x="7058533" y="6066282"/>
                  </a:lnTo>
                  <a:lnTo>
                    <a:pt x="0" y="6066282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7058495" cy="607580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endParaRPr dirty="0"/>
            </a:p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0F17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            Selection &amp; Payments</a:t>
              </a:r>
            </a:p>
            <a:p>
              <a:pPr algn="l">
                <a:lnSpc>
                  <a:spcPts val="2160"/>
                </a:lnSpc>
              </a:pPr>
              <a:endParaRPr lang="en-US" sz="2400" b="1" dirty="0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Democratic Selection</a:t>
              </a:r>
              <a:r>
                <a:rPr lang="en-US" sz="1800" b="1" dirty="0">
                  <a:solidFill>
                    <a:srgbClr val="33415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: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 Elected openly every two years via a village assembly show of hands.</a:t>
              </a: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Payment Collection:</a:t>
              </a:r>
              <a:r>
                <a:rPr lang="en-US" sz="1800" dirty="0">
                  <a:latin typeface="Georgia"/>
                  <a:ea typeface="Georgia"/>
                  <a:cs typeface="Georgia"/>
                  <a:sym typeface="Georgia"/>
                </a:rPr>
                <a:t> 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Households pay a flat monthly maintenance fee tiered by usage, collected during the first week.                               </a:t>
              </a: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6409" y="3747726"/>
            <a:ext cx="5827462" cy="4518936"/>
            <a:chOff x="0" y="0"/>
            <a:chExt cx="7769949" cy="60252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769987" cy="6025261"/>
            </a:xfrm>
            <a:custGeom>
              <a:avLst/>
              <a:gdLst/>
              <a:ahLst/>
              <a:cxnLst/>
              <a:rect l="l" t="t" r="r" b="b"/>
              <a:pathLst>
                <a:path w="7769987" h="6025261">
                  <a:moveTo>
                    <a:pt x="0" y="0"/>
                  </a:moveTo>
                  <a:lnTo>
                    <a:pt x="7769987" y="0"/>
                  </a:lnTo>
                  <a:lnTo>
                    <a:pt x="7769987" y="6025261"/>
                  </a:lnTo>
                  <a:lnTo>
                    <a:pt x="0" y="602526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769949" cy="603477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0F17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          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0F17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              Committee Members</a:t>
              </a:r>
            </a:p>
            <a:p>
              <a:pPr algn="l">
                <a:lnSpc>
                  <a:spcPts val="2160"/>
                </a:lnSpc>
              </a:pPr>
              <a:endParaRPr lang="en-US" sz="2400" b="1" dirty="0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Composed of five trusted local members:</a:t>
              </a: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217170" lvl="1" indent="-108585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 Chairperson:</a:t>
              </a:r>
              <a:r>
                <a:rPr lang="en-US" sz="1800" b="1" dirty="0">
                  <a:latin typeface="Georgia"/>
                  <a:ea typeface="Georgia"/>
                  <a:cs typeface="Georgia"/>
                  <a:sym typeface="Georgia"/>
                </a:rPr>
                <a:t> 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Guides strategy and community coordination.</a:t>
              </a:r>
            </a:p>
            <a:p>
              <a:pPr marL="217170" lvl="1" indent="-108585"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217170" lvl="1" indent="-108585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 Treasurer</a:t>
              </a:r>
              <a:r>
                <a:rPr lang="en-US" sz="1800" b="1" dirty="0">
                  <a:solidFill>
                    <a:srgbClr val="33415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: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 Handles fees and public account books.</a:t>
              </a:r>
            </a:p>
            <a:p>
              <a:pPr marL="217170" lvl="1" indent="-108585"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217170" lvl="1" indent="-108585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dirty="0">
                  <a:solidFill>
                    <a:srgbClr val="33415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</a:t>
              </a: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Lead Technician:</a:t>
              </a:r>
              <a:r>
                <a:rPr lang="en-US" sz="1800" dirty="0">
                  <a:latin typeface="Georgia"/>
                  <a:ea typeface="Georgia"/>
                  <a:cs typeface="Georgia"/>
                  <a:sym typeface="Georgia"/>
                </a:rPr>
                <a:t> 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Oversees daily operations and checks smooth functioning of solar panels.</a:t>
              </a:r>
            </a:p>
            <a:p>
              <a:pPr marL="217170" lvl="1" indent="-108585"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217170" lvl="1" indent="-108585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 2 Village Reps: 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Act as direct voices for local households.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022045" y="3747726"/>
            <a:ext cx="5725449" cy="4611271"/>
            <a:chOff x="0" y="0"/>
            <a:chExt cx="7633932" cy="61483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633970" cy="6148323"/>
            </a:xfrm>
            <a:custGeom>
              <a:avLst/>
              <a:gdLst/>
              <a:ahLst/>
              <a:cxnLst/>
              <a:rect l="l" t="t" r="r" b="b"/>
              <a:pathLst>
                <a:path w="7633970" h="6148323">
                  <a:moveTo>
                    <a:pt x="0" y="0"/>
                  </a:moveTo>
                  <a:lnTo>
                    <a:pt x="7633970" y="0"/>
                  </a:lnTo>
                  <a:lnTo>
                    <a:pt x="7633970" y="6148323"/>
                  </a:lnTo>
                  <a:lnTo>
                    <a:pt x="0" y="614832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7633932" cy="615788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endParaRPr dirty="0"/>
            </a:p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0F17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        Upkeep &amp; Conflict Resolution</a:t>
              </a:r>
            </a:p>
            <a:p>
              <a:pPr algn="l">
                <a:lnSpc>
                  <a:spcPts val="2160"/>
                </a:lnSpc>
              </a:pPr>
              <a:endParaRPr lang="en-US" sz="2400" b="1" dirty="0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Maintenance:</a:t>
              </a:r>
              <a:r>
                <a:rPr lang="en-US" sz="1800" dirty="0">
                  <a:latin typeface="Georgia"/>
                  <a:ea typeface="Georgia"/>
                  <a:cs typeface="Georgia"/>
                  <a:sym typeface="Georgia"/>
                </a:rPr>
                <a:t> 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Weekly checks on solar arrays and batteries; professional service contracts for major faults.</a:t>
              </a: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b="1" dirty="0">
                  <a:latin typeface="Georgia Bold"/>
                  <a:ea typeface="Georgia Bold"/>
                  <a:cs typeface="Georgia Bold"/>
                  <a:sym typeface="Georgia Bold"/>
                </a:rPr>
                <a:t>Resolutions:</a:t>
              </a:r>
              <a:r>
                <a:rPr lang="en-US" sz="1800" dirty="0">
                  <a:latin typeface="Georgia"/>
                  <a:ea typeface="Georgia"/>
                  <a:cs typeface="Georgia"/>
                  <a:sym typeface="Georgia"/>
                </a:rPr>
                <a:t> </a:t>
              </a:r>
              <a:r>
                <a:rPr lang="en-US" sz="1800" dirty="0">
                  <a:solidFill>
                    <a:srgbClr val="334155"/>
                  </a:solidFill>
                  <a:latin typeface="Georgia"/>
                  <a:ea typeface="Georgia"/>
                  <a:cs typeface="Georgia"/>
                  <a:sym typeface="Georgia"/>
                </a:rPr>
                <a:t>Billing disputes handled monthly through open consensus and community rules.</a:t>
              </a: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id="37" name="Graphic 36" descr="Users with solid fill">
            <a:extLst>
              <a:ext uri="{FF2B5EF4-FFF2-40B4-BE49-F238E27FC236}">
                <a16:creationId xmlns:a16="http://schemas.microsoft.com/office/drawing/2014/main" id="{FCCA938D-4E24-509B-D787-1253B9CEEC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110" y="3816185"/>
            <a:ext cx="914400" cy="914400"/>
          </a:xfrm>
          <a:prstGeom prst="rect">
            <a:avLst/>
          </a:prstGeom>
        </p:spPr>
      </p:pic>
      <p:pic>
        <p:nvPicPr>
          <p:cNvPr id="39" name="Graphic 38" descr="Money with solid fill">
            <a:extLst>
              <a:ext uri="{FF2B5EF4-FFF2-40B4-BE49-F238E27FC236}">
                <a16:creationId xmlns:a16="http://schemas.microsoft.com/office/drawing/2014/main" id="{D4F0446F-ED9F-5623-609E-1BEAEB4B0D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07004" y="3783393"/>
            <a:ext cx="914400" cy="914400"/>
          </a:xfrm>
          <a:prstGeom prst="rect">
            <a:avLst/>
          </a:prstGeom>
        </p:spPr>
      </p:pic>
      <p:pic>
        <p:nvPicPr>
          <p:cNvPr id="41" name="Graphic 40" descr="Arrow circle with solid fill">
            <a:extLst>
              <a:ext uri="{FF2B5EF4-FFF2-40B4-BE49-F238E27FC236}">
                <a16:creationId xmlns:a16="http://schemas.microsoft.com/office/drawing/2014/main" id="{AA62A47F-5EF0-FB48-AB36-861AC02C68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2073" y="3807106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8640" y="384048"/>
            <a:ext cx="1577340" cy="685800"/>
            <a:chOff x="0" y="0"/>
            <a:chExt cx="2103120" cy="914400"/>
          </a:xfrm>
        </p:grpSpPr>
        <p:sp>
          <p:nvSpPr>
            <p:cNvPr id="3" name="Freeform 3" descr="logo.png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19" r="-4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0" y="438912"/>
            <a:ext cx="10835640" cy="411480"/>
            <a:chOff x="0" y="0"/>
            <a:chExt cx="1444752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47520" cy="548640"/>
            </a:xfrm>
            <a:custGeom>
              <a:avLst/>
              <a:gdLst/>
              <a:ahLst/>
              <a:cxnLst/>
              <a:rect l="l" t="t" r="r" b="b"/>
              <a:pathLst>
                <a:path w="14447520" h="548640">
                  <a:moveTo>
                    <a:pt x="0" y="0"/>
                  </a:moveTo>
                  <a:lnTo>
                    <a:pt x="14447520" y="0"/>
                  </a:lnTo>
                  <a:lnTo>
                    <a:pt x="1444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2749" b="-4627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0" y="424624"/>
            <a:ext cx="10835640" cy="425768"/>
            <a:chOff x="0" y="0"/>
            <a:chExt cx="14447520" cy="567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520" cy="567690"/>
            </a:xfrm>
            <a:custGeom>
              <a:avLst/>
              <a:gdLst/>
              <a:ahLst/>
              <a:cxnLst/>
              <a:rect l="l" t="t" r="r" b="b"/>
              <a:pathLst>
                <a:path w="14447520" h="567690">
                  <a:moveTo>
                    <a:pt x="0" y="0"/>
                  </a:moveTo>
                  <a:lnTo>
                    <a:pt x="14447520" y="0"/>
                  </a:lnTo>
                  <a:lnTo>
                    <a:pt x="1444752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5887" b="-44588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47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 spc="150">
                  <a:solidFill>
                    <a:srgbClr val="6666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VILLAGE MICROGRID - TEAM WORKSHEET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920">
            <a:off x="534343" y="1252347"/>
            <a:ext cx="17214733" cy="0"/>
          </a:xfrm>
          <a:prstGeom prst="line">
            <a:avLst/>
          </a:prstGeom>
          <a:ln w="9525" cap="rnd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48640" y="1481328"/>
            <a:ext cx="13716000" cy="480060"/>
            <a:chOff x="0" y="0"/>
            <a:chExt cx="18288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6327" b="-5063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8640" y="1467041"/>
            <a:ext cx="13716000" cy="494347"/>
            <a:chOff x="0" y="0"/>
            <a:chExt cx="18288000" cy="659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659130"/>
            </a:xfrm>
            <a:custGeom>
              <a:avLst/>
              <a:gdLst/>
              <a:ahLst/>
              <a:cxnLst/>
              <a:rect l="l" t="t" r="r" b="b"/>
              <a:pathLst>
                <a:path w="18288000" h="659130">
                  <a:moveTo>
                    <a:pt x="0" y="0"/>
                  </a:moveTo>
                  <a:lnTo>
                    <a:pt x="18288000" y="0"/>
                  </a:lnTo>
                  <a:lnTo>
                    <a:pt x="182880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0625" b="-49062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150">
                  <a:solidFill>
                    <a:srgbClr val="0078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4  ·  DESIGN THE GOVERNANCE MODEL &amp; PITCH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9793224"/>
            <a:ext cx="17186148" cy="384048"/>
            <a:chOff x="0" y="0"/>
            <a:chExt cx="229148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14863" cy="512064"/>
            </a:xfrm>
            <a:custGeom>
              <a:avLst/>
              <a:gdLst/>
              <a:ahLst/>
              <a:cxnLst/>
              <a:rect l="l" t="t" r="r" b="b"/>
              <a:pathLst>
                <a:path w="22914863" h="512064">
                  <a:moveTo>
                    <a:pt x="0" y="0"/>
                  </a:moveTo>
                  <a:lnTo>
                    <a:pt x="22914863" y="0"/>
                  </a:lnTo>
                  <a:lnTo>
                    <a:pt x="2291486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1349" b="-82134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778937"/>
            <a:ext cx="17186148" cy="398336"/>
            <a:chOff x="0" y="0"/>
            <a:chExt cx="22914864" cy="5311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14865" cy="531114"/>
            </a:xfrm>
            <a:custGeom>
              <a:avLst/>
              <a:gdLst/>
              <a:ahLst/>
              <a:cxnLst/>
              <a:rect l="l" t="t" r="r" b="b"/>
              <a:pathLst>
                <a:path w="22914865" h="531114">
                  <a:moveTo>
                    <a:pt x="0" y="0"/>
                  </a:moveTo>
                  <a:lnTo>
                    <a:pt x="22914865" y="0"/>
                  </a:lnTo>
                  <a:lnTo>
                    <a:pt x="2291486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0680" b="-790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14864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HCL JIGSAW  |  Edition 7  |  Grade 9  ·  Climate Action &amp; Sustainable Energy  ·  Village Microgrid  ·  Team Worksheet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0080" y="2023110"/>
            <a:ext cx="17003268" cy="180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875" b="1">
                <a:solidFill>
                  <a:srgbClr val="0078D4"/>
                </a:solidFill>
                <a:latin typeface="Arial Bold"/>
                <a:ea typeface="Arial Bold"/>
                <a:cs typeface="Arial Bold"/>
                <a:sym typeface="Arial Bold"/>
              </a:rPr>
              <a:t>Q8.  </a:t>
            </a:r>
            <a:r>
              <a:rPr lang="en-US" sz="18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 your pitch to a rural electrification agency: write your executive summary (the problem, your solution, the cost, the impact), and prepare confident responses to 2 tough questions they might ask (e.g. “what about the monsoon?”, “what if households don't pay?”).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03206" y="3077548"/>
            <a:ext cx="17219486" cy="5947600"/>
          </a:xfrm>
          <a:custGeom>
            <a:avLst/>
            <a:gdLst/>
            <a:ahLst/>
            <a:cxnLst/>
            <a:rect l="l" t="t" r="r" b="b"/>
            <a:pathLst>
              <a:path w="17219486" h="5947600">
                <a:moveTo>
                  <a:pt x="0" y="0"/>
                </a:moveTo>
                <a:lnTo>
                  <a:pt x="17219486" y="0"/>
                </a:lnTo>
                <a:lnTo>
                  <a:pt x="17219486" y="5947601"/>
                </a:lnTo>
                <a:lnTo>
                  <a:pt x="0" y="5947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548640" y="2997727"/>
            <a:ext cx="17186148" cy="6027401"/>
            <a:chOff x="0" y="0"/>
            <a:chExt cx="22914864" cy="80365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914863" cy="8036560"/>
            </a:xfrm>
            <a:custGeom>
              <a:avLst/>
              <a:gdLst/>
              <a:ahLst/>
              <a:cxnLst/>
              <a:rect l="l" t="t" r="r" b="b"/>
              <a:pathLst>
                <a:path w="22914863" h="8036560">
                  <a:moveTo>
                    <a:pt x="0" y="0"/>
                  </a:moveTo>
                  <a:lnTo>
                    <a:pt x="22914863" y="0"/>
                  </a:lnTo>
                  <a:lnTo>
                    <a:pt x="22914863" y="8036560"/>
                  </a:lnTo>
                  <a:lnTo>
                    <a:pt x="0" y="8036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19" b="-551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693610" y="2983459"/>
            <a:ext cx="17186148" cy="6041688"/>
            <a:chOff x="0" y="0"/>
            <a:chExt cx="22914864" cy="80555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914865" cy="8055585"/>
            </a:xfrm>
            <a:custGeom>
              <a:avLst/>
              <a:gdLst/>
              <a:ahLst/>
              <a:cxnLst/>
              <a:rect l="l" t="t" r="r" b="b"/>
              <a:pathLst>
                <a:path w="22914865" h="8055585">
                  <a:moveTo>
                    <a:pt x="0" y="0"/>
                  </a:moveTo>
                  <a:lnTo>
                    <a:pt x="22914865" y="0"/>
                  </a:lnTo>
                  <a:lnTo>
                    <a:pt x="22914865" y="8055585"/>
                  </a:lnTo>
                  <a:lnTo>
                    <a:pt x="0" y="80555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427" b="-542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2914864" cy="8074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 dirty="0">
                  <a:solidFill>
                    <a:srgbClr val="AAAAA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Type your answer here…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B0F23F3-EE0D-3BB4-19A3-5203A58DBA0E}"/>
              </a:ext>
            </a:extLst>
          </p:cNvPr>
          <p:cNvSpPr txBox="1"/>
          <p:nvPr/>
        </p:nvSpPr>
        <p:spPr>
          <a:xfrm>
            <a:off x="563878" y="3124152"/>
            <a:ext cx="7052977" cy="59400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b="1" i="0" dirty="0">
                <a:solidFill>
                  <a:srgbClr val="0F172A"/>
                </a:solidFill>
                <a:effectLst/>
                <a:latin typeface="Georgia" panose="02040502050405020303" pitchFamily="18" charset="0"/>
              </a:rPr>
              <a:t>        Executive Summary</a:t>
            </a:r>
          </a:p>
          <a:p>
            <a:pPr algn="l"/>
            <a:endParaRPr lang="en-US" b="1" i="0" dirty="0">
              <a:solidFill>
                <a:srgbClr val="0F172A"/>
              </a:solidFill>
              <a:effectLst/>
              <a:latin typeface="Georgia" panose="02040502050405020303" pitchFamily="18" charset="0"/>
            </a:endParaRPr>
          </a:p>
          <a:p>
            <a:pPr algn="l"/>
            <a:r>
              <a:rPr lang="en-US" b="1" i="0" dirty="0">
                <a:effectLst/>
                <a:latin typeface="Georgia" panose="02040502050405020303" pitchFamily="18" charset="0"/>
              </a:rPr>
              <a:t>The Problem:</a:t>
            </a:r>
            <a:r>
              <a:rPr lang="en-US" b="0" i="0" dirty="0">
                <a:effectLst/>
                <a:latin typeface="Georgia" panose="02040502050405020303" pitchFamily="18" charset="0"/>
              </a:rPr>
              <a:t> </a:t>
            </a:r>
            <a:r>
              <a:rPr lang="en-US" b="0" i="0" dirty="0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Rampur Kheda faces 4–6 hours of daily power cuts, causing families to use polluting diesel generators and lose business hours.</a:t>
            </a:r>
          </a:p>
          <a:p>
            <a:pPr algn="l"/>
            <a:endParaRPr lang="en-US" b="1" i="0" dirty="0">
              <a:effectLst/>
              <a:latin typeface="Georgia" panose="02040502050405020303" pitchFamily="18" charset="0"/>
            </a:endParaRPr>
          </a:p>
          <a:p>
            <a:pPr algn="l"/>
            <a:r>
              <a:rPr lang="en-US" b="1" i="0" dirty="0">
                <a:effectLst/>
                <a:latin typeface="Georgia" panose="02040502050405020303" pitchFamily="18" charset="0"/>
              </a:rPr>
              <a:t>Our Solution:</a:t>
            </a:r>
            <a:r>
              <a:rPr lang="en-US" b="0" i="0" dirty="0">
                <a:effectLst/>
                <a:latin typeface="Georgia" panose="02040502050405020303" pitchFamily="18" charset="0"/>
              </a:rPr>
              <a:t> </a:t>
            </a:r>
            <a:r>
              <a:rPr lang="en-US" b="0" i="0" dirty="0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A community-managed 377 </a:t>
            </a:r>
            <a:r>
              <a:rPr lang="en-US" b="0" i="0" dirty="0" err="1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kWp</a:t>
            </a:r>
            <a:r>
              <a:rPr lang="en-US" b="0" i="0" dirty="0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 solar microgrid with 800 kWh lithium storage ensuring clean, uninterrupted power for all 480 households</a:t>
            </a:r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.</a:t>
            </a:r>
          </a:p>
          <a:p>
            <a:pPr algn="l"/>
            <a:endParaRPr lang="en-US" dirty="0">
              <a:solidFill>
                <a:srgbClr val="475569"/>
              </a:solidFill>
              <a:latin typeface="Plus Jakarta Sans"/>
            </a:endParaRPr>
          </a:p>
          <a:p>
            <a:pPr algn="l"/>
            <a:r>
              <a:rPr lang="en-US" b="1" i="0" dirty="0">
                <a:effectLst/>
                <a:latin typeface="Georgia" panose="02040502050405020303" pitchFamily="18" charset="0"/>
              </a:rPr>
              <a:t>The Cost &amp; Impact:</a:t>
            </a:r>
            <a:r>
              <a:rPr lang="en-US" b="0" i="0" dirty="0">
                <a:effectLst/>
                <a:latin typeface="Georgia" panose="02040502050405020303" pitchFamily="18" charset="0"/>
              </a:rPr>
              <a:t> </a:t>
            </a:r>
            <a:r>
              <a:rPr lang="en-US" b="0" i="0" dirty="0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Net project cost of ~₹1.15 Crores after government subsidies and CSR grants, bringing total reliability and income opportunities.</a:t>
            </a:r>
          </a:p>
          <a:p>
            <a:pPr algn="l"/>
            <a:endParaRPr lang="en-US" dirty="0">
              <a:solidFill>
                <a:srgbClr val="475569"/>
              </a:solidFill>
              <a:latin typeface="Georgia" panose="02040502050405020303" pitchFamily="18" charset="0"/>
            </a:endParaRPr>
          </a:p>
          <a:p>
            <a:pPr algn="l"/>
            <a:endParaRPr lang="en-US" dirty="0">
              <a:solidFill>
                <a:srgbClr val="475569"/>
              </a:solidFill>
              <a:latin typeface="Georgia" panose="02040502050405020303" pitchFamily="18" charset="0"/>
            </a:endParaRPr>
          </a:p>
          <a:p>
            <a:pPr algn="l"/>
            <a:endParaRPr lang="en-US" dirty="0">
              <a:solidFill>
                <a:srgbClr val="475569"/>
              </a:solidFill>
              <a:latin typeface="Georgia" panose="02040502050405020303" pitchFamily="18" charset="0"/>
            </a:endParaRPr>
          </a:p>
          <a:p>
            <a:pPr algn="l"/>
            <a:endParaRPr lang="en-US" dirty="0">
              <a:solidFill>
                <a:srgbClr val="475569"/>
              </a:solidFill>
              <a:latin typeface="Georgia" panose="02040502050405020303" pitchFamily="18" charset="0"/>
            </a:endParaRPr>
          </a:p>
          <a:p>
            <a:pPr algn="l"/>
            <a:r>
              <a:rPr lang="en-US" b="0" i="0" dirty="0">
                <a:solidFill>
                  <a:srgbClr val="166534"/>
                </a:solidFill>
                <a:effectLst/>
                <a:latin typeface="Plus Jakarta Sans"/>
              </a:rPr>
              <a:t>         </a:t>
            </a:r>
            <a:r>
              <a:rPr lang="en-US" b="1" i="0" dirty="0">
                <a:solidFill>
                  <a:srgbClr val="166534"/>
                </a:solidFill>
                <a:effectLst/>
                <a:latin typeface="Georgia" panose="02040502050405020303" pitchFamily="18" charset="0"/>
              </a:rPr>
              <a:t>Surplus Electricity Revenue:</a:t>
            </a:r>
            <a:r>
              <a:rPr lang="en-US" b="0" i="0" dirty="0">
                <a:solidFill>
                  <a:srgbClr val="166534"/>
                </a:solidFill>
                <a:effectLst/>
                <a:latin typeface="Georgia" panose="02040502050405020303" pitchFamily="18" charset="0"/>
              </a:rPr>
              <a:t> Excess daytime solar generation will be fed back into the regional grid, generating a reliable secondary income fund for village maintenance!</a:t>
            </a:r>
            <a:endParaRPr lang="en-US" b="1" i="0" dirty="0">
              <a:solidFill>
                <a:srgbClr val="475569"/>
              </a:solidFill>
              <a:effectLst/>
              <a:latin typeface="Georgia" panose="02040502050405020303" pitchFamily="18" charset="0"/>
            </a:endParaRPr>
          </a:p>
          <a:p>
            <a:pPr algn="l"/>
            <a:endParaRPr lang="en-US" b="1" dirty="0">
              <a:solidFill>
                <a:srgbClr val="475569"/>
              </a:solidFill>
              <a:latin typeface="Georgia" panose="02040502050405020303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82E051-7A4B-3E9B-36DA-0E4FB3229EC1}"/>
              </a:ext>
            </a:extLst>
          </p:cNvPr>
          <p:cNvSpPr txBox="1"/>
          <p:nvPr/>
        </p:nvSpPr>
        <p:spPr>
          <a:xfrm>
            <a:off x="7696200" y="3314918"/>
            <a:ext cx="91592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1E293B"/>
                </a:solidFill>
                <a:effectLst/>
                <a:latin typeface="Georgia" panose="02040502050405020303" pitchFamily="18" charset="0"/>
              </a:rPr>
              <a:t>        "What happens during the monsoon or cloudy days?"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Our 800 kWh lithium-ion storage bank holds reserve capacity to bridge multiple low-generation days, while our oversize array captures diffused light safely.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B148D0-0B6E-F804-FE69-5D57F584863E}"/>
              </a:ext>
            </a:extLst>
          </p:cNvPr>
          <p:cNvSpPr txBox="1"/>
          <p:nvPr/>
        </p:nvSpPr>
        <p:spPr>
          <a:xfrm>
            <a:off x="7721393" y="4525694"/>
            <a:ext cx="915924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1E293B"/>
                </a:solidFill>
                <a:effectLst/>
                <a:latin typeface="Georgia" panose="02040502050405020303" pitchFamily="18" charset="0"/>
              </a:rPr>
              <a:t>       "What if households delay or fail to pay their monthly fee?"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Smart prepaid meters automatically pause power if credit runs out, preventing debt accumulation while peer accountability through the Village Committee handles edge cases.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5F0F2D-EDA6-2E47-1643-FFAB03C90D88}"/>
              </a:ext>
            </a:extLst>
          </p:cNvPr>
          <p:cNvSpPr txBox="1"/>
          <p:nvPr/>
        </p:nvSpPr>
        <p:spPr>
          <a:xfrm>
            <a:off x="7696200" y="6058641"/>
            <a:ext cx="91592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1E293B"/>
                </a:solidFill>
                <a:effectLst/>
                <a:latin typeface="Georgia" panose="02040502050405020303" pitchFamily="18" charset="0"/>
              </a:rPr>
              <a:t>       "Who handles technical breakdowns or daily maintenance?"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Georgia" panose="02040502050405020303" pitchFamily="18" charset="0"/>
              </a:rPr>
              <a:t>The elected Village Electricity Committee includes a trained local lead technician for weekly checks, backed by a formal professional service AMC for major components.</a:t>
            </a:r>
          </a:p>
        </p:txBody>
      </p:sp>
      <p:pic>
        <p:nvPicPr>
          <p:cNvPr id="35" name="Graphic 34" descr="Group brainstorm with solid fill">
            <a:extLst>
              <a:ext uri="{FF2B5EF4-FFF2-40B4-BE49-F238E27FC236}">
                <a16:creationId xmlns:a16="http://schemas.microsoft.com/office/drawing/2014/main" id="{B9D94F4E-2145-E546-6836-1547E0849F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978" y="7664695"/>
            <a:ext cx="455060" cy="596537"/>
          </a:xfrm>
          <a:prstGeom prst="rect">
            <a:avLst/>
          </a:prstGeom>
        </p:spPr>
      </p:pic>
      <p:pic>
        <p:nvPicPr>
          <p:cNvPr id="44" name="Graphic 43" descr="Help with solid fill">
            <a:extLst>
              <a:ext uri="{FF2B5EF4-FFF2-40B4-BE49-F238E27FC236}">
                <a16:creationId xmlns:a16="http://schemas.microsoft.com/office/drawing/2014/main" id="{B9F82F99-0150-2AC3-6E91-DF1F13C1DB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4486" y="3314917"/>
            <a:ext cx="637591" cy="381965"/>
          </a:xfrm>
          <a:prstGeom prst="rect">
            <a:avLst/>
          </a:prstGeom>
        </p:spPr>
      </p:pic>
      <p:pic>
        <p:nvPicPr>
          <p:cNvPr id="47" name="Graphic 46" descr="Help with solid fill">
            <a:extLst>
              <a:ext uri="{FF2B5EF4-FFF2-40B4-BE49-F238E27FC236}">
                <a16:creationId xmlns:a16="http://schemas.microsoft.com/office/drawing/2014/main" id="{21E7B34E-D5A8-00D0-2145-7F13F536F4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7980" y="4521281"/>
            <a:ext cx="637591" cy="381965"/>
          </a:xfrm>
          <a:prstGeom prst="rect">
            <a:avLst/>
          </a:prstGeom>
        </p:spPr>
      </p:pic>
      <p:pic>
        <p:nvPicPr>
          <p:cNvPr id="48" name="Graphic 47" descr="Help with solid fill">
            <a:extLst>
              <a:ext uri="{FF2B5EF4-FFF2-40B4-BE49-F238E27FC236}">
                <a16:creationId xmlns:a16="http://schemas.microsoft.com/office/drawing/2014/main" id="{67888820-5A67-EB20-6463-A407960809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2289" y="6058640"/>
            <a:ext cx="637591" cy="381965"/>
          </a:xfrm>
          <a:prstGeom prst="rect">
            <a:avLst/>
          </a:prstGeom>
        </p:spPr>
      </p:pic>
      <p:pic>
        <p:nvPicPr>
          <p:cNvPr id="50" name="Graphic 49" descr="Marketing with solid fill">
            <a:extLst>
              <a:ext uri="{FF2B5EF4-FFF2-40B4-BE49-F238E27FC236}">
                <a16:creationId xmlns:a16="http://schemas.microsoft.com/office/drawing/2014/main" id="{15E8698E-1668-8E6C-610F-49C25C9362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3696" y="3164353"/>
            <a:ext cx="677945" cy="549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2435</Words>
  <Application>Microsoft Office PowerPoint</Application>
  <PresentationFormat>Custom</PresentationFormat>
  <Paragraphs>312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Lato</vt:lpstr>
      <vt:lpstr>Arimo</vt:lpstr>
      <vt:lpstr>Georgia</vt:lpstr>
      <vt:lpstr>Arial</vt:lpstr>
      <vt:lpstr>Poppins</vt:lpstr>
      <vt:lpstr>Calibri</vt:lpstr>
      <vt:lpstr>Georgia Bold</vt:lpstr>
      <vt:lpstr>Georgia Italics</vt:lpstr>
      <vt:lpstr>Arial Italics</vt:lpstr>
      <vt:lpstr>Arial Bold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Climate-Grade+9+-+Village_Microgrid_Team_Worksheet.pptx.pptx</dc:title>
  <dc:creator>hp</dc:creator>
  <cp:lastModifiedBy>AYUSH KUMAR</cp:lastModifiedBy>
  <cp:revision>2</cp:revision>
  <dcterms:created xsi:type="dcterms:W3CDTF">2006-08-16T00:00:00Z</dcterms:created>
  <dcterms:modified xsi:type="dcterms:W3CDTF">2026-09-03T07:01:46Z</dcterms:modified>
  <dc:identifier>DAHT1Wihmxk</dc:identifier>
</cp:coreProperties>
</file>